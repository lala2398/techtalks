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.fntdata"/><Relationship Id="rId6" Type="http://schemas.openxmlformats.org/officeDocument/2006/relationships/slide" Target="slides/slide1.xml"/><Relationship Id="rId18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1af5cd0ba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1af5cd0ba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1af5cd0b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1af5cd0b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1af5cd0b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1af5cd0b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1af5cd0ba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1af5cd0ba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1af5cd0ba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1af5cd0ba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1af5cd0b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1af5cd0b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1af5cd0ba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1af5cd0ba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1af5cd0ba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1af5cd0ba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1af5cd0ba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1af5cd0ba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1af5cd0ba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1af5cd0ba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349342c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349342c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1af5cd0ba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1af5cd0ba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lala.ibadullayeva@gmail.com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9664150" y="1635975"/>
            <a:ext cx="8123100" cy="13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400">
                <a:latin typeface="Arial"/>
                <a:ea typeface="Arial"/>
                <a:cs typeface="Arial"/>
                <a:sym typeface="Arial"/>
              </a:rPr>
              <a:t>Statistical learning from simulation and observations with application to the protein ligand structures</a:t>
            </a:r>
            <a:endParaRPr b="1" sz="56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24"/>
            <a:ext cx="8123100" cy="10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500" u="sng">
                <a:latin typeface="Arial"/>
                <a:ea typeface="Arial"/>
                <a:cs typeface="Arial"/>
                <a:sym typeface="Arial"/>
              </a:rPr>
              <a:t>Lala Ibadullayeva</a:t>
            </a:r>
            <a:endParaRPr b="1" baseline="3000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tr" sz="1500">
                <a:latin typeface="Arial"/>
                <a:ea typeface="Arial"/>
                <a:cs typeface="Arial"/>
                <a:sym typeface="Arial"/>
              </a:rPr>
              <a:t> MSERA, IMBB, Baku, Azerbaijan</a:t>
            </a:r>
            <a:endParaRPr i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tr" sz="1500" u="sng">
                <a:latin typeface="Arial"/>
                <a:ea typeface="Arial"/>
                <a:cs typeface="Arial"/>
                <a:sym typeface="Arial"/>
                <a:hlinkClick r:id="rId3"/>
              </a:rPr>
              <a:t>lala.ibadullayeva@gmail.co</a:t>
            </a:r>
            <a:r>
              <a:rPr lang="tr" sz="1500">
                <a:latin typeface="Arial"/>
                <a:ea typeface="Arial"/>
                <a:cs typeface="Arial"/>
                <a:sym typeface="Arial"/>
              </a:rPr>
              <a:t>m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190300" y="4191825"/>
            <a:ext cx="47634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23 Dec</a:t>
            </a:r>
            <a:r>
              <a:rPr lang="tr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, 2025, Baku, Azerbaijan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300" y="518250"/>
            <a:ext cx="1466470" cy="73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9800" y="518251"/>
            <a:ext cx="1413875" cy="78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 title="Screenshot 2025-06-10 at 12-27-38 Main_logotype_AZE.png (PNG Image 2000 × 1189 pixels) — Scaled (81%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1800" y="451800"/>
            <a:ext cx="1466474" cy="87195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Enhancing Conformational Priors for Small Rings in </a:t>
            </a:r>
            <a:endParaRPr b="1" sz="24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4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Structural Biology through Computational Energy Analysis</a:t>
            </a:r>
            <a:endParaRPr sz="6000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215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Derivation of Macromolecular atomic structure models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439425" y="1114975"/>
            <a:ext cx="446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Methods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Crystallography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Cryo-Electron Microscopy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Can result in good models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Issues: Often produce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sparse and noisy data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making data-only derived models unreliable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- use Bayesian Statistics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likelihood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(observation model) with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 probability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(existing knowledge).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Enhances reliability of molecular models.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Stereochemical Parameters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Bond lengths and angles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Well-established, widely used in structural biology software.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Conformational angles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Challenging due to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multimodality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dependence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75" y="787925"/>
            <a:ext cx="3500401" cy="15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type="title"/>
          </p:nvPr>
        </p:nvSpPr>
        <p:spPr>
          <a:xfrm>
            <a:off x="179125" y="2405250"/>
            <a:ext cx="42603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1620"/>
              <a:t>Macromolecular crystallography</a:t>
            </a:r>
            <a:endParaRPr sz="1620"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150" y="2880550"/>
            <a:ext cx="3627226" cy="174949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228150" y="4630050"/>
            <a:ext cx="40104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tr" sz="1490">
                <a:solidFill>
                  <a:schemeClr val="dk1"/>
                </a:solidFill>
                <a:highlight>
                  <a:schemeClr val="lt1"/>
                </a:highlight>
              </a:rPr>
              <a:t>Cryo</a:t>
            </a:r>
            <a:r>
              <a:rPr lang="tr" sz="1490">
                <a:solidFill>
                  <a:schemeClr val="dk1"/>
                </a:solidFill>
                <a:highlight>
                  <a:schemeClr val="lt1"/>
                </a:highlight>
              </a:rPr>
              <a:t>-electron</a:t>
            </a:r>
            <a:r>
              <a:rPr lang="tr" sz="1490">
                <a:solidFill>
                  <a:schemeClr val="dk1"/>
                </a:solidFill>
                <a:highlight>
                  <a:schemeClr val="lt1"/>
                </a:highlight>
              </a:rPr>
              <a:t> microscopy</a:t>
            </a:r>
            <a:endParaRPr sz="149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179150" y="135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 and Study Approach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330" y="4276975"/>
            <a:ext cx="607842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 flipH="1">
            <a:off x="575450" y="1315850"/>
            <a:ext cx="5991600" cy="2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Conformational Angle Challenges</a:t>
            </a:r>
            <a:r>
              <a:rPr lang="tr" sz="1100"/>
              <a:t>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tr" sz="1100"/>
              <a:t>Torsion angles in small-ring systems</a:t>
            </a:r>
            <a:r>
              <a:rPr lang="tr" sz="1100"/>
              <a:t>: Complex due to ring closure constraints.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Constraints reduce independent variables leading to interdependencies.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Study Objective</a:t>
            </a:r>
            <a:r>
              <a:rPr lang="tr" sz="1100"/>
              <a:t>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Develop a framework to organize and classify </a:t>
            </a:r>
            <a:r>
              <a:rPr b="1" lang="tr" sz="1100"/>
              <a:t>small-ring conformations</a:t>
            </a:r>
            <a:r>
              <a:rPr lang="tr" sz="1100"/>
              <a:t>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tr" sz="1100"/>
              <a:t>Focus: Statistical models.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Methodology</a:t>
            </a:r>
            <a:r>
              <a:rPr lang="tr" sz="1100"/>
              <a:t>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Combine </a:t>
            </a:r>
            <a:r>
              <a:rPr b="1" lang="tr" sz="1100"/>
              <a:t>computational simulations</a:t>
            </a:r>
            <a:r>
              <a:rPr lang="tr" sz="1100"/>
              <a:t> (RDKit, PySCF) with </a:t>
            </a:r>
            <a:r>
              <a:rPr b="1" lang="tr" sz="1100"/>
              <a:t>experimental data</a:t>
            </a:r>
            <a:r>
              <a:rPr lang="tr" sz="1100"/>
              <a:t> from </a:t>
            </a:r>
            <a:r>
              <a:rPr lang="tr" sz="1100"/>
              <a:t>the Crystallography</a:t>
            </a:r>
            <a:r>
              <a:rPr lang="tr" sz="1100"/>
              <a:t> Open Database (COD).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Aim: Integrate knowledge to improve modelling of macromolecules 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Aim of the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Objective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identify ring classes based on involved atoms and their covalent environment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calculate the possible conformations for each ring class with their respective energies.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identify a relationship between simulations and observational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existing observational 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to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build statistical models.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computational tools to augment observed data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(future)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Conformational analysis of ligands with small rings, e.g. carbohydrates.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accurate analysis of RNA/DNA structures.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Validate and improve atomic models in the PDB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Methodology Overview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Workflow Summary: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acquisition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COD (≤1.0 Å)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Ring extraction &amp; classification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 of Cremer–Pople parameters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SMILES conversion for simulations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Conformational sampling (RDKit)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evaluation (DFT &amp; HF using PySCF)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475" y="1611646"/>
            <a:ext cx="2710200" cy="26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5289775" y="4439325"/>
            <a:ext cx="3381000" cy="40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Cremer-Pople mapping rings to sphere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7" name="Google Shape;97;p17" title="ce577408-1149-4c96-9ee1-7b378ec73797.jpg"/>
          <p:cNvPicPr preferRelativeResize="0"/>
          <p:nvPr/>
        </p:nvPicPr>
        <p:blipFill rotWithShape="1">
          <a:blip r:embed="rId4">
            <a:alphaModFix/>
          </a:blip>
          <a:srcRect b="4240" l="1604" r="1749" t="2363"/>
          <a:stretch/>
        </p:blipFill>
        <p:spPr>
          <a:xfrm>
            <a:off x="5568676" y="142325"/>
            <a:ext cx="2540776" cy="13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67500" y="135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Methodology: Conformer Generation and Visualisation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708400"/>
            <a:ext cx="4223400" cy="4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Conformer Generation and Optimisation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RDKit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Generation of molecular structures from SMILES format.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MMFF and UFF Methods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Initial optimisation of molecular structures and calculation of their energies.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Calculation Methods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Hartree-Fock Method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Precise calculation of molecular energies.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Density Functional Theory (DFT)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Faster and accurate energy analysis.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Boltzmann Distribution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Identification of dominant conformers and calculation of relative probabilities.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4641225" y="701125"/>
            <a:ext cx="4277400" cy="4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/>
              <a:t>Visualisation 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Visualisation Tools</a:t>
            </a:r>
            <a:r>
              <a:rPr lang="tr" sz="1100"/>
              <a:t>: Conformers depicted in 3D using py3Dmol.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Conformer Generation from SMILES Format</a:t>
            </a:r>
            <a:r>
              <a:rPr lang="tr" sz="1100"/>
              <a:t>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RDKit employed to generate conformers.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Geometry </a:t>
            </a:r>
            <a:r>
              <a:rPr lang="tr" sz="1100"/>
              <a:t>optimisation was</a:t>
            </a:r>
            <a:r>
              <a:rPr lang="tr" sz="1100"/>
              <a:t> performed for each conformer.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Ring Selection Criteria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152475"/>
            <a:ext cx="438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Filters Applied to COD Dataset: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High-resolution X-ray structures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Finite and well-defined molecules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Rings of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4–6 atoms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non-flat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Composed of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C, N, O, P, S, B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523,000 initial crystal structures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235,000 passed the filters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157,000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contained non-aromatic rings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116,000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was the extracted number of 4-6 membered rings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Ring Classification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Classifying by Atomic Connectivity: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COD :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Total: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7,600 distinct classes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 classes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had &gt;500 observations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Cremer–Pople Parameters: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Quantify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ring conformation parameters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Describe ring conformations independently of its  size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761350"/>
            <a:ext cx="4576200" cy="4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 we show an overlay of the lowest-energy conformers.</a:t>
            </a:r>
            <a:b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conformers are aligned using selected ring atoms in order to make the structural differences more clearly visible.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observation:</a:t>
            </a:r>
            <a:br>
              <a:rPr b="1"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Although the conformers have nearly identical energies, they exhibit noticeable differences in ring puckering and substituent orientations.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demonstrates that energy values alone are not sufficient to uniquely define the conformation of a ring system.</a:t>
            </a:r>
            <a:endParaRPr sz="2300"/>
          </a:p>
        </p:txBody>
      </p:sp>
      <p:pic>
        <p:nvPicPr>
          <p:cNvPr id="122" name="Google Shape;122;p21" title="Screenshot from 2025-11-06 13-19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800" y="666900"/>
            <a:ext cx="4154449" cy="35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215050" y="133675"/>
            <a:ext cx="51783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Structural overlay of low-energy conformers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Energy ranking of generated conformers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162725" y="1152475"/>
            <a:ext cx="4498500" cy="3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1"/>
                </a:solidFill>
              </a:rPr>
              <a:t>This plot shows the MMFF force-field energies of all generated conformers, sorted from lowest to highest energy.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1"/>
                </a:solidFill>
              </a:rPr>
              <a:t>Each point represents a unique conformer obtained from RDKit-based conformer generation and geometry optimisation.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1"/>
                </a:solidFill>
              </a:rPr>
              <a:t>The lowest-energy conformers are highlighted in red, while higher-energy conformers are shown in grey.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1"/>
                </a:solidFill>
              </a:rPr>
              <a:t>Relative energies (ΔE) are reported with respect to the global minimum, which is set to 0 kcal/mol.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>
                <a:solidFill>
                  <a:schemeClr val="dk1"/>
                </a:solidFill>
              </a:rPr>
              <a:t>The small energy differences among the lowest-ranked conformers indicate the presence of multiple energetically accessible conformations.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0" name="Google Shape;130;p22" title="Screenshot 2025-12-18 2150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100" y="1405188"/>
            <a:ext cx="4349401" cy="233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Acknowledgement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2286000"/>
            <a:ext cx="2958300" cy="22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1"/>
                </a:solidFill>
              </a:rPr>
              <a:t>IMBB (Baku, Azerbaijan)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</a:rPr>
              <a:t>Kave Babai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</a:rPr>
              <a:t>Sahib Babaliyev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</a:rPr>
              <a:t>Humay Mammadli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3936350" y="2286000"/>
            <a:ext cx="4440000" cy="22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Guman Garayev 	- </a:t>
            </a:r>
            <a:r>
              <a:rPr lang="t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MegaSec</a:t>
            </a:r>
            <a:r>
              <a:rPr lang="t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Baku, Azerbaijan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Fei Long			- </a:t>
            </a:r>
            <a:r>
              <a:rPr lang="t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MRC-LMB, </a:t>
            </a:r>
            <a:r>
              <a:rPr lang="t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Cambridge,UK</a:t>
            </a:r>
            <a:r>
              <a:rPr lang="tr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1111425" y="4194000"/>
            <a:ext cx="6037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All colleagues from IMBB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288950" y="1259850"/>
            <a:ext cx="34674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Garib Murshudov (IMBB, MRC-LMB)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Irada Huseynova (IMBB) 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2307300" y="2069050"/>
            <a:ext cx="45333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tr" sz="2600">
                <a:solidFill>
                  <a:schemeClr val="dk1"/>
                </a:solidFill>
              </a:rPr>
              <a:t>Thank you for joining </a:t>
            </a:r>
            <a:r>
              <a:rPr lang="tr" sz="2600">
                <a:solidFill>
                  <a:schemeClr val="dk1"/>
                </a:solidFill>
              </a:rPr>
              <a:t>us</a:t>
            </a:r>
            <a:r>
              <a:rPr lang="tr" sz="2600">
                <a:solidFill>
                  <a:schemeClr val="dk1"/>
                </a:solidFill>
              </a:rPr>
              <a:t> :)</a:t>
            </a:r>
            <a:endParaRPr sz="2600">
              <a:solidFill>
                <a:schemeClr val="dk1"/>
              </a:solidFill>
            </a:endParaRPr>
          </a:p>
        </p:txBody>
      </p:sp>
      <p:pic>
        <p:nvPicPr>
          <p:cNvPr id="145" name="Google Shape;145;p24" title="q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9225" y="2733400"/>
            <a:ext cx="2183076" cy="218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