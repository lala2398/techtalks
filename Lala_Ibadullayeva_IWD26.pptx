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nva Sans" panose="020B0604020202020204" charset="0"/>
      <p:regular r:id="rId14"/>
    </p:embeddedFont>
    <p:embeddedFont>
      <p:font typeface="Canva Sa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435196" y="1028700"/>
            <a:ext cx="9417608" cy="8228635"/>
          </a:xfrm>
          <a:custGeom>
            <a:avLst/>
            <a:gdLst/>
            <a:ahLst/>
            <a:cxnLst/>
            <a:rect l="l" t="t" r="r" b="b"/>
            <a:pathLst>
              <a:path w="9417608" h="8228635">
                <a:moveTo>
                  <a:pt x="0" y="0"/>
                </a:moveTo>
                <a:lnTo>
                  <a:pt x="9417608" y="0"/>
                </a:lnTo>
                <a:lnTo>
                  <a:pt x="9417608" y="8228635"/>
                </a:lnTo>
                <a:lnTo>
                  <a:pt x="0" y="8228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8" r="-5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56913" y="0"/>
            <a:ext cx="4331087" cy="10287000"/>
            <a:chOff x="0" y="0"/>
            <a:chExt cx="114069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0698" cy="2709333"/>
            </a:xfrm>
            <a:custGeom>
              <a:avLst/>
              <a:gdLst/>
              <a:ahLst/>
              <a:cxnLst/>
              <a:rect l="l" t="t" r="r" b="b"/>
              <a:pathLst>
                <a:path w="1140698" h="2709333">
                  <a:moveTo>
                    <a:pt x="0" y="0"/>
                  </a:moveTo>
                  <a:lnTo>
                    <a:pt x="1140698" y="0"/>
                  </a:lnTo>
                  <a:lnTo>
                    <a:pt x="11406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140698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863482" y="9024906"/>
            <a:ext cx="1101410" cy="941926"/>
          </a:xfrm>
          <a:custGeom>
            <a:avLst/>
            <a:gdLst/>
            <a:ahLst/>
            <a:cxnLst/>
            <a:rect l="l" t="t" r="r" b="b"/>
            <a:pathLst>
              <a:path w="1101410" h="941926">
                <a:moveTo>
                  <a:pt x="0" y="0"/>
                </a:moveTo>
                <a:lnTo>
                  <a:pt x="1101410" y="0"/>
                </a:lnTo>
                <a:lnTo>
                  <a:pt x="1101410" y="941926"/>
                </a:lnTo>
                <a:lnTo>
                  <a:pt x="0" y="941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2" r="-422" b="-784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4394278" y="648017"/>
            <a:ext cx="2942319" cy="874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Agenda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4763" y="311504"/>
            <a:ext cx="13259210" cy="9663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50545" lvl="1" indent="-275272" algn="l">
              <a:lnSpc>
                <a:spcPts val="3569"/>
              </a:lnSpc>
              <a:buFont typeface="Arial"/>
              <a:buChar char="•"/>
            </a:pPr>
            <a:r>
              <a:rPr lang="en-US" sz="2550" b="1" dirty="0">
                <a:solidFill>
                  <a:srgbClr val="1CE9B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9:00 AM</a:t>
            </a:r>
            <a:r>
              <a:rPr lang="en-US" sz="2550" dirty="0">
                <a:solidFill>
                  <a:srgbClr val="1CE9B6"/>
                </a:solidFill>
                <a:latin typeface="Canva Sans"/>
                <a:ea typeface="Canva Sans"/>
                <a:cs typeface="Canva Sans"/>
                <a:sym typeface="Canva Sans"/>
              </a:rPr>
              <a:t> : </a:t>
            </a:r>
            <a:r>
              <a:rPr lang="en-US" sz="2550" b="1" dirty="0">
                <a:solidFill>
                  <a:srgbClr val="1CE9B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Registration</a:t>
            </a:r>
          </a:p>
          <a:p>
            <a:pPr marL="550545" lvl="1" indent="-275272" algn="l">
              <a:lnSpc>
                <a:spcPts val="3569"/>
              </a:lnSpc>
              <a:buFont typeface="Arial"/>
              <a:buChar char="•"/>
            </a:pPr>
            <a:r>
              <a:rPr lang="en-US" sz="2550" b="1" dirty="0">
                <a:solidFill>
                  <a:srgbClr val="0334A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10:00 AM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</a:t>
            </a:r>
            <a:r>
              <a:rPr lang="en-US" sz="255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Opening Ceremony :  Lala Ibadullayeva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WTM Ambassador | </a:t>
            </a:r>
            <a:r>
              <a:rPr lang="en-US" sz="255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Nigar Humbatova 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 HR Project Coordinator (</a:t>
            </a:r>
            <a:r>
              <a:rPr lang="en-US" sz="25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Xsolla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 | </a:t>
            </a:r>
            <a:r>
              <a:rPr lang="en-US" sz="255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Humay Mirzayeva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</a:t>
            </a:r>
            <a:r>
              <a:rPr lang="en-US" sz="25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GirlsCode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project Coordinator | </a:t>
            </a:r>
            <a:r>
              <a:rPr lang="en-US" sz="255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Pari Abbasli 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 Content &amp; Communications Strategist (Violette).</a:t>
            </a:r>
          </a:p>
          <a:p>
            <a:pPr marL="550545" lvl="1" indent="-275272" algn="l">
              <a:lnSpc>
                <a:spcPts val="3569"/>
              </a:lnSpc>
              <a:buFont typeface="Arial"/>
              <a:buChar char="•"/>
            </a:pPr>
            <a:r>
              <a:rPr lang="en-US" sz="2550" b="1" dirty="0">
                <a:solidFill>
                  <a:srgbClr val="0334A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10:30 AM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</a:t>
            </a:r>
            <a:r>
              <a:rPr lang="en-US" sz="255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Khanim Bahman : 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Break the Pattern with Open Data  Turning open data from a showcase into practical power—real use cases, real impact</a:t>
            </a:r>
          </a:p>
          <a:p>
            <a:pPr marL="550545" lvl="1" indent="-275272" algn="l">
              <a:lnSpc>
                <a:spcPts val="3569"/>
              </a:lnSpc>
              <a:buFont typeface="Arial"/>
              <a:buChar char="•"/>
            </a:pPr>
            <a:r>
              <a:rPr lang="en-US" sz="2550" b="1" dirty="0">
                <a:solidFill>
                  <a:srgbClr val="0334A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11:00 AM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</a:t>
            </a:r>
            <a:r>
              <a:rPr lang="en-US" sz="255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Lala Mammadova : 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Why Good Analytics Fails Without Good Engineering</a:t>
            </a:r>
          </a:p>
          <a:p>
            <a:pPr marL="550545" lvl="1" indent="-275272" algn="l">
              <a:lnSpc>
                <a:spcPts val="3569"/>
              </a:lnSpc>
              <a:buFont typeface="Arial"/>
              <a:buChar char="•"/>
            </a:pPr>
            <a:r>
              <a:rPr lang="en-US" sz="2550" b="1" dirty="0">
                <a:solidFill>
                  <a:srgbClr val="0334A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11:30 AM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</a:t>
            </a:r>
            <a:r>
              <a:rPr lang="en-US" sz="255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Khayala</a:t>
            </a:r>
            <a:r>
              <a:rPr lang="en-US" sz="255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Mammadova : 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 Operating Models: A Framework for Structural Governance in Finance</a:t>
            </a:r>
          </a:p>
          <a:p>
            <a:pPr marL="550545" lvl="1" indent="-275272" algn="l">
              <a:lnSpc>
                <a:spcPts val="3569"/>
              </a:lnSpc>
              <a:buFont typeface="Arial"/>
              <a:buChar char="•"/>
            </a:pPr>
            <a:r>
              <a:rPr lang="en-US" sz="2550" b="1" dirty="0">
                <a:solidFill>
                  <a:srgbClr val="0334A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11:45 AM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</a:t>
            </a:r>
            <a:r>
              <a:rPr lang="en-US" sz="255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Nazrin Abbasli : 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 and Automation in Aviation Sector</a:t>
            </a:r>
          </a:p>
          <a:p>
            <a:pPr marL="550545" lvl="1" indent="-275272" algn="l">
              <a:lnSpc>
                <a:spcPts val="3569"/>
              </a:lnSpc>
              <a:buFont typeface="Arial"/>
              <a:buChar char="•"/>
            </a:pPr>
            <a:r>
              <a:rPr lang="en-US" sz="2550" b="1" dirty="0">
                <a:solidFill>
                  <a:srgbClr val="0334A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12:15 PM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</a:t>
            </a:r>
            <a:r>
              <a:rPr lang="en-US" sz="255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Humay Almasova : 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Analytics and </a:t>
            </a:r>
            <a:r>
              <a:rPr lang="en-US" sz="25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Vizualization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Making Data Speak</a:t>
            </a:r>
          </a:p>
          <a:p>
            <a:pPr marL="550545" lvl="1" indent="-275272" algn="l">
              <a:lnSpc>
                <a:spcPts val="3569"/>
              </a:lnSpc>
              <a:buFont typeface="Arial"/>
              <a:buChar char="•"/>
            </a:pPr>
            <a:r>
              <a:rPr lang="en-US" sz="2550" b="1" dirty="0">
                <a:solidFill>
                  <a:srgbClr val="1CE9B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12:45 PM</a:t>
            </a:r>
            <a:r>
              <a:rPr lang="en-US" sz="2550" dirty="0">
                <a:solidFill>
                  <a:srgbClr val="1CE9B6"/>
                </a:solidFill>
                <a:latin typeface="Canva Sans"/>
                <a:ea typeface="Canva Sans"/>
                <a:cs typeface="Canva Sans"/>
                <a:sym typeface="Canva Sans"/>
              </a:rPr>
              <a:t> : </a:t>
            </a:r>
            <a:r>
              <a:rPr lang="en-US" sz="2550" b="1" dirty="0">
                <a:solidFill>
                  <a:srgbClr val="1CE9B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Break : </a:t>
            </a:r>
            <a:r>
              <a:rPr lang="en-US" sz="2550" dirty="0">
                <a:solidFill>
                  <a:srgbClr val="1CE9B6"/>
                </a:solidFill>
                <a:latin typeface="Canva Sans"/>
                <a:ea typeface="Canva Sans"/>
                <a:cs typeface="Canva Sans"/>
                <a:sym typeface="Canva Sans"/>
              </a:rPr>
              <a:t>Lunch break and Networking</a:t>
            </a:r>
          </a:p>
          <a:p>
            <a:pPr marL="550545" lvl="1" indent="-275272" algn="l">
              <a:lnSpc>
                <a:spcPts val="3569"/>
              </a:lnSpc>
              <a:buFont typeface="Arial"/>
              <a:buChar char="•"/>
            </a:pPr>
            <a:r>
              <a:rPr lang="en-US" sz="2550" b="1" dirty="0">
                <a:solidFill>
                  <a:srgbClr val="0334A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1:30 PM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</a:t>
            </a:r>
            <a:r>
              <a:rPr lang="en-US" sz="255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Jamila Garayeva : 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From Numbers to Decisions: Role of Data in Business</a:t>
            </a:r>
          </a:p>
          <a:p>
            <a:pPr marL="550545" lvl="1" indent="-275272" algn="l">
              <a:lnSpc>
                <a:spcPts val="3569"/>
              </a:lnSpc>
              <a:buFont typeface="Arial"/>
              <a:buChar char="•"/>
            </a:pPr>
            <a:r>
              <a:rPr lang="en-US" sz="2550" b="1" dirty="0">
                <a:solidFill>
                  <a:srgbClr val="0334A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2:00 PM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</a:t>
            </a:r>
            <a:r>
              <a:rPr lang="en-US" sz="255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Khanim </a:t>
            </a:r>
            <a:r>
              <a:rPr lang="en-US" sz="255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Pashayeva</a:t>
            </a:r>
            <a:r>
              <a:rPr lang="en-US" sz="255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: 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Modern Frontend: Engineering Decisions with Real Impact</a:t>
            </a:r>
          </a:p>
          <a:p>
            <a:pPr marL="550545" lvl="1" indent="-275272" algn="l">
              <a:lnSpc>
                <a:spcPts val="3569"/>
              </a:lnSpc>
              <a:buFont typeface="Arial"/>
              <a:buChar char="•"/>
            </a:pPr>
            <a:r>
              <a:rPr lang="en-US" sz="2550" b="1" dirty="0">
                <a:solidFill>
                  <a:srgbClr val="0334A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2:30 PM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</a:t>
            </a:r>
            <a:r>
              <a:rPr lang="en-US" sz="255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Fidan Ahmadli : 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Intelligent Automation : From manual to AI autonomous</a:t>
            </a:r>
          </a:p>
          <a:p>
            <a:pPr marL="550545" lvl="1" indent="-275272" algn="l">
              <a:lnSpc>
                <a:spcPts val="3569"/>
              </a:lnSpc>
              <a:buFont typeface="Arial"/>
              <a:buChar char="•"/>
            </a:pPr>
            <a:r>
              <a:rPr lang="en-US" sz="2550" b="1" dirty="0">
                <a:solidFill>
                  <a:srgbClr val="0334A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3:00 PM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</a:t>
            </a:r>
            <a:r>
              <a:rPr lang="en-US" sz="255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Sitara </a:t>
            </a:r>
            <a:r>
              <a:rPr lang="en-US" sz="255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Aghayeva</a:t>
            </a:r>
            <a:r>
              <a:rPr lang="en-US" sz="255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: 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Performance </a:t>
            </a:r>
            <a:r>
              <a:rPr lang="en-US" sz="25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Assesment</a:t>
            </a:r>
            <a:r>
              <a:rPr lang="en-US" sz="25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from Ethics and Risk Perspective</a:t>
            </a:r>
          </a:p>
        </p:txBody>
      </p:sp>
      <p:sp>
        <p:nvSpPr>
          <p:cNvPr id="8" name="Freeform 8"/>
          <p:cNvSpPr/>
          <p:nvPr/>
        </p:nvSpPr>
        <p:spPr>
          <a:xfrm>
            <a:off x="14247018" y="6500308"/>
            <a:ext cx="3750878" cy="2382253"/>
          </a:xfrm>
          <a:custGeom>
            <a:avLst/>
            <a:gdLst/>
            <a:ahLst/>
            <a:cxnLst/>
            <a:rect l="l" t="t" r="r" b="b"/>
            <a:pathLst>
              <a:path w="3750878" h="2382253">
                <a:moveTo>
                  <a:pt x="0" y="0"/>
                </a:moveTo>
                <a:lnTo>
                  <a:pt x="3750877" y="0"/>
                </a:lnTo>
                <a:lnTo>
                  <a:pt x="3750877" y="2382253"/>
                </a:lnTo>
                <a:lnTo>
                  <a:pt x="0" y="23822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558" r="-11201" b="-4356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0139" y="2585360"/>
            <a:ext cx="3007044" cy="3007044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4651297" y="2025819"/>
            <a:ext cx="2942319" cy="518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6"/>
              </a:lnSpc>
            </a:pPr>
            <a:r>
              <a:rPr lang="en-US" sz="309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Linkedin Page 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134238" y="5936922"/>
            <a:ext cx="1976438" cy="563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7"/>
              </a:lnSpc>
            </a:pPr>
            <a:r>
              <a:rPr lang="en-US" sz="331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Partners 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34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527103" cy="10287000"/>
            <a:chOff x="0" y="0"/>
            <a:chExt cx="25091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9196" cy="2709333"/>
            </a:xfrm>
            <a:custGeom>
              <a:avLst/>
              <a:gdLst/>
              <a:ahLst/>
              <a:cxnLst/>
              <a:rect l="l" t="t" r="r" b="b"/>
              <a:pathLst>
                <a:path w="2509196" h="2709333">
                  <a:moveTo>
                    <a:pt x="0" y="0"/>
                  </a:moveTo>
                  <a:lnTo>
                    <a:pt x="2509196" y="0"/>
                  </a:lnTo>
                  <a:lnTo>
                    <a:pt x="25091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509196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863482" y="9024906"/>
            <a:ext cx="1101410" cy="941926"/>
          </a:xfrm>
          <a:custGeom>
            <a:avLst/>
            <a:gdLst/>
            <a:ahLst/>
            <a:cxnLst/>
            <a:rect l="l" t="t" r="r" b="b"/>
            <a:pathLst>
              <a:path w="1101410" h="941926">
                <a:moveTo>
                  <a:pt x="0" y="0"/>
                </a:moveTo>
                <a:lnTo>
                  <a:pt x="1101410" y="0"/>
                </a:lnTo>
                <a:lnTo>
                  <a:pt x="1101410" y="941926"/>
                </a:lnTo>
                <a:lnTo>
                  <a:pt x="0" y="941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2" r="-422" b="-784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053092" y="1481979"/>
            <a:ext cx="7542927" cy="7542927"/>
          </a:xfrm>
          <a:custGeom>
            <a:avLst/>
            <a:gdLst/>
            <a:ahLst/>
            <a:cxnLst/>
            <a:rect l="l" t="t" r="r" b="b"/>
            <a:pathLst>
              <a:path w="7542927" h="7542927">
                <a:moveTo>
                  <a:pt x="0" y="0"/>
                </a:moveTo>
                <a:lnTo>
                  <a:pt x="7542927" y="0"/>
                </a:lnTo>
                <a:lnTo>
                  <a:pt x="7542927" y="7542927"/>
                </a:lnTo>
                <a:lnTo>
                  <a:pt x="0" y="7542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89701" y="3277608"/>
            <a:ext cx="8547057" cy="5683793"/>
          </a:xfrm>
          <a:custGeom>
            <a:avLst/>
            <a:gdLst/>
            <a:ahLst/>
            <a:cxnLst/>
            <a:rect l="l" t="t" r="r" b="b"/>
            <a:pathLst>
              <a:path w="8547057" h="5683793">
                <a:moveTo>
                  <a:pt x="0" y="0"/>
                </a:moveTo>
                <a:lnTo>
                  <a:pt x="8547057" y="0"/>
                </a:lnTo>
                <a:lnTo>
                  <a:pt x="8547057" y="5683793"/>
                </a:lnTo>
                <a:lnTo>
                  <a:pt x="0" y="56837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89701" y="866002"/>
            <a:ext cx="8347701" cy="110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64"/>
              </a:lnSpc>
            </a:pPr>
            <a:r>
              <a:rPr lang="en-US" sz="64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IWD 2026 Organizers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88657" y="0"/>
            <a:ext cx="6199343" cy="10287000"/>
            <a:chOff x="0" y="0"/>
            <a:chExt cx="163274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2749" cy="2709333"/>
            </a:xfrm>
            <a:custGeom>
              <a:avLst/>
              <a:gdLst/>
              <a:ahLst/>
              <a:cxnLst/>
              <a:rect l="l" t="t" r="r" b="b"/>
              <a:pathLst>
                <a:path w="1632749" h="2709333">
                  <a:moveTo>
                    <a:pt x="0" y="0"/>
                  </a:moveTo>
                  <a:lnTo>
                    <a:pt x="1632749" y="0"/>
                  </a:lnTo>
                  <a:lnTo>
                    <a:pt x="16327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E9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632749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863482" y="9024906"/>
            <a:ext cx="1101410" cy="941926"/>
          </a:xfrm>
          <a:custGeom>
            <a:avLst/>
            <a:gdLst/>
            <a:ahLst/>
            <a:cxnLst/>
            <a:rect l="l" t="t" r="r" b="b"/>
            <a:pathLst>
              <a:path w="1101410" h="941926">
                <a:moveTo>
                  <a:pt x="0" y="0"/>
                </a:moveTo>
                <a:lnTo>
                  <a:pt x="1101410" y="0"/>
                </a:lnTo>
                <a:lnTo>
                  <a:pt x="1101410" y="941926"/>
                </a:lnTo>
                <a:lnTo>
                  <a:pt x="0" y="941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2" r="-422" b="-784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574030" y="1965021"/>
            <a:ext cx="5228598" cy="6356958"/>
          </a:xfrm>
          <a:custGeom>
            <a:avLst/>
            <a:gdLst/>
            <a:ahLst/>
            <a:cxnLst/>
            <a:rect l="l" t="t" r="r" b="b"/>
            <a:pathLst>
              <a:path w="5228598" h="6356958">
                <a:moveTo>
                  <a:pt x="0" y="0"/>
                </a:moveTo>
                <a:lnTo>
                  <a:pt x="5228598" y="0"/>
                </a:lnTo>
                <a:lnTo>
                  <a:pt x="522859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43541" y="363239"/>
            <a:ext cx="11762152" cy="66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17"/>
              </a:lnSpc>
            </a:pPr>
            <a:r>
              <a:rPr lang="en-US" sz="386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I became a Women Techmakers Ambassador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540" y="2121091"/>
            <a:ext cx="7095459" cy="539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sz="321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My journey started far from tech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23450" y="3020834"/>
            <a:ext cx="7821711" cy="2668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742" lvl="1" indent="-277371" algn="l">
              <a:lnSpc>
                <a:spcPts val="3597"/>
              </a:lnSpc>
              <a:buFont typeface="Arial"/>
              <a:buChar char="•"/>
            </a:pPr>
            <a:r>
              <a:rPr lang="en-US" sz="25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2015 – Started my education in Social Sciences (History faculty, even Anthropology)</a:t>
            </a:r>
          </a:p>
          <a:p>
            <a:pPr marL="554742" lvl="1" indent="-277371" algn="l">
              <a:lnSpc>
                <a:spcPts val="3597"/>
              </a:lnSpc>
              <a:buFont typeface="Arial"/>
              <a:buChar char="•"/>
            </a:pPr>
            <a:r>
              <a:rPr lang="en-US" sz="25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2021 - Completed my Master's degree with higher GPA</a:t>
            </a:r>
          </a:p>
          <a:p>
            <a:pPr marL="554742" lvl="1" indent="-277371" algn="l">
              <a:lnSpc>
                <a:spcPts val="3597"/>
              </a:lnSpc>
              <a:buFont typeface="Arial"/>
              <a:buChar char="•"/>
            </a:pPr>
            <a:r>
              <a:rPr lang="en-US" sz="25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 age 23, I made a life-changing decision : To leave my field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541" y="6218768"/>
            <a:ext cx="10219659" cy="635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6"/>
              </a:lnSpc>
            </a:pPr>
            <a:r>
              <a:rPr lang="en-US" sz="379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start again in science and technology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4176" y="7440901"/>
            <a:ext cx="10384010" cy="2268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0096" lvl="1" indent="-235048" algn="l">
              <a:lnSpc>
                <a:spcPts val="3048"/>
              </a:lnSpc>
              <a:buFont typeface="Arial"/>
              <a:buChar char="•"/>
            </a:pPr>
            <a:r>
              <a:rPr lang="en-US" sz="21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2021 – Accepted to a PhD program in Biology with the highest admission score</a:t>
            </a:r>
          </a:p>
          <a:p>
            <a:pPr marL="470096" lvl="1" indent="-235048" algn="l">
              <a:lnSpc>
                <a:spcPts val="3048"/>
              </a:lnSpc>
              <a:buFont typeface="Arial"/>
              <a:buChar char="•"/>
            </a:pPr>
            <a:r>
              <a:rPr lang="en-US" sz="21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same year I started exploring programming</a:t>
            </a:r>
          </a:p>
          <a:p>
            <a:pPr marL="470096" lvl="1" indent="-235048" algn="l">
              <a:lnSpc>
                <a:spcPts val="3048"/>
              </a:lnSpc>
              <a:buFont typeface="Arial"/>
              <a:buChar char="•"/>
            </a:pPr>
            <a:r>
              <a:rPr lang="en-US" sz="21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Began studying: Started taking structured notes from technical courses especially in Bioinformatics and Biostatistics</a:t>
            </a:r>
          </a:p>
          <a:p>
            <a:pPr algn="l">
              <a:lnSpc>
                <a:spcPts val="3048"/>
              </a:lnSpc>
            </a:pPr>
            <a:endParaRPr lang="en-US" sz="2177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99526" y="-138077"/>
            <a:ext cx="19342477" cy="10287000"/>
          </a:xfrm>
          <a:custGeom>
            <a:avLst/>
            <a:gdLst/>
            <a:ahLst/>
            <a:cxnLst/>
            <a:rect l="l" t="t" r="r" b="b"/>
            <a:pathLst>
              <a:path w="19342477" h="10287000">
                <a:moveTo>
                  <a:pt x="0" y="0"/>
                </a:moveTo>
                <a:lnTo>
                  <a:pt x="19342477" y="0"/>
                </a:lnTo>
                <a:lnTo>
                  <a:pt x="1934247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4014" b="-440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824978" y="9077325"/>
            <a:ext cx="1254505" cy="889507"/>
          </a:xfrm>
          <a:custGeom>
            <a:avLst/>
            <a:gdLst/>
            <a:ahLst/>
            <a:cxnLst/>
            <a:rect l="l" t="t" r="r" b="b"/>
            <a:pathLst>
              <a:path w="1254505" h="889507">
                <a:moveTo>
                  <a:pt x="0" y="0"/>
                </a:moveTo>
                <a:lnTo>
                  <a:pt x="1254505" y="0"/>
                </a:lnTo>
                <a:lnTo>
                  <a:pt x="1254505" y="889507"/>
                </a:lnTo>
                <a:lnTo>
                  <a:pt x="0" y="8895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10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276375" y="4061723"/>
            <a:ext cx="12803108" cy="94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12"/>
              </a:lnSpc>
              <a:spcBef>
                <a:spcPct val="0"/>
              </a:spcBef>
            </a:pPr>
            <a:r>
              <a:rPr lang="en-US" sz="550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Break the Pattern : Rewrite your story</a:t>
            </a:r>
          </a:p>
        </p:txBody>
      </p:sp>
      <p:sp>
        <p:nvSpPr>
          <p:cNvPr id="5" name="TextBox 5"/>
          <p:cNvSpPr txBox="1"/>
          <p:nvPr/>
        </p:nvSpPr>
        <p:spPr>
          <a:xfrm rot="1728990">
            <a:off x="607793" y="7636478"/>
            <a:ext cx="5612162" cy="56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1"/>
              </a:lnSpc>
            </a:pPr>
            <a:r>
              <a:rPr lang="en-US" sz="329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“You will not succeed here”</a:t>
            </a:r>
          </a:p>
        </p:txBody>
      </p:sp>
      <p:sp>
        <p:nvSpPr>
          <p:cNvPr id="6" name="TextBox 6"/>
          <p:cNvSpPr txBox="1"/>
          <p:nvPr/>
        </p:nvSpPr>
        <p:spPr>
          <a:xfrm rot="-671853">
            <a:off x="518234" y="1184272"/>
            <a:ext cx="574619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“This field is not for you”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07850" y="6821623"/>
            <a:ext cx="5971633" cy="1362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2531" lvl="1" indent="-281265" algn="l">
              <a:lnSpc>
                <a:spcPts val="3647"/>
              </a:lnSpc>
              <a:buFont typeface="Arial"/>
              <a:buChar char="•"/>
            </a:pP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Starting from zero</a:t>
            </a:r>
          </a:p>
          <a:p>
            <a:pPr marL="562531" lvl="1" indent="-281265" algn="l">
              <a:lnSpc>
                <a:spcPts val="3647"/>
              </a:lnSpc>
              <a:buFont typeface="Arial"/>
              <a:buChar char="•"/>
            </a:pP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Learning everything from scratch</a:t>
            </a:r>
          </a:p>
          <a:p>
            <a:pPr marL="562531" lvl="1" indent="-281265" algn="l">
              <a:lnSpc>
                <a:spcPts val="3647"/>
              </a:lnSpc>
              <a:buFont typeface="Arial"/>
              <a:buChar char="•"/>
            </a:pP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Proving myself again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24978" y="9077325"/>
            <a:ext cx="1254505" cy="889507"/>
          </a:xfrm>
          <a:custGeom>
            <a:avLst/>
            <a:gdLst/>
            <a:ahLst/>
            <a:cxnLst/>
            <a:rect l="l" t="t" r="r" b="b"/>
            <a:pathLst>
              <a:path w="1254505" h="889507">
                <a:moveTo>
                  <a:pt x="0" y="0"/>
                </a:moveTo>
                <a:lnTo>
                  <a:pt x="1254505" y="0"/>
                </a:lnTo>
                <a:lnTo>
                  <a:pt x="1254505" y="889507"/>
                </a:lnTo>
                <a:lnTo>
                  <a:pt x="0" y="889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10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253414" y="723931"/>
            <a:ext cx="12188481" cy="85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3"/>
              </a:lnSpc>
            </a:pPr>
            <a:r>
              <a:rPr lang="en-US" sz="498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opportunity that changed my style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8909" y="3654316"/>
            <a:ext cx="7834103" cy="2282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felt different because: </a:t>
            </a:r>
          </a:p>
          <a:p>
            <a:pPr marL="556322" lvl="1" indent="-278161" algn="just">
              <a:lnSpc>
                <a:spcPts val="3607"/>
              </a:lnSpc>
              <a:buFont typeface="Arial"/>
              <a:buChar char="•"/>
            </a:pPr>
            <a:r>
              <a:rPr lang="en-US" sz="2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 saw many women with stories similar to mine</a:t>
            </a:r>
          </a:p>
          <a:p>
            <a:pPr marL="556322" lvl="1" indent="-278161" algn="just">
              <a:lnSpc>
                <a:spcPts val="3607"/>
              </a:lnSpc>
              <a:buFont typeface="Arial"/>
              <a:buChar char="•"/>
            </a:pPr>
            <a:r>
              <a:rPr lang="en-US" sz="2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Women who also changed careers</a:t>
            </a:r>
          </a:p>
          <a:p>
            <a:pPr marL="556322" lvl="1" indent="-278161" algn="just">
              <a:lnSpc>
                <a:spcPts val="3607"/>
              </a:lnSpc>
              <a:buFont typeface="Arial"/>
              <a:buChar char="•"/>
            </a:pPr>
            <a:r>
              <a:rPr lang="en-US" sz="2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Women who refused to give up</a:t>
            </a:r>
          </a:p>
          <a:p>
            <a:pPr algn="just">
              <a:lnSpc>
                <a:spcPts val="3607"/>
              </a:lnSpc>
            </a:pPr>
            <a:endParaRPr lang="en-US" sz="257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15133" y="2574229"/>
            <a:ext cx="9413358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2022 - I discovered the WTM Ambassador Program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95955" y="3654316"/>
            <a:ext cx="7947660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 understood I could:</a:t>
            </a:r>
          </a:p>
          <a:p>
            <a:pPr marL="561344" lvl="1" indent="-280672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Share my story with more women</a:t>
            </a:r>
          </a:p>
          <a:p>
            <a:pPr marL="561344" lvl="1" indent="-280672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 others going through similar struggles</a:t>
            </a:r>
          </a:p>
          <a:p>
            <a:pPr marL="561344" lvl="1" indent="-280672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Build something bigger than my own journey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59699" y="6776060"/>
            <a:ext cx="15368603" cy="1652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7"/>
              </a:lnSpc>
            </a:pPr>
            <a:r>
              <a:rPr lang="en-US" sz="471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Because sometimes your story is not just about you, </a:t>
            </a:r>
          </a:p>
          <a:p>
            <a:pPr algn="ctr">
              <a:lnSpc>
                <a:spcPts val="6607"/>
              </a:lnSpc>
            </a:pPr>
            <a:r>
              <a:rPr lang="en-US" sz="471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becomes a path for others too.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24978" y="9077325"/>
            <a:ext cx="1254505" cy="889507"/>
          </a:xfrm>
          <a:custGeom>
            <a:avLst/>
            <a:gdLst/>
            <a:ahLst/>
            <a:cxnLst/>
            <a:rect l="l" t="t" r="r" b="b"/>
            <a:pathLst>
              <a:path w="1254505" h="889507">
                <a:moveTo>
                  <a:pt x="0" y="0"/>
                </a:moveTo>
                <a:lnTo>
                  <a:pt x="1254505" y="0"/>
                </a:lnTo>
                <a:lnTo>
                  <a:pt x="1254505" y="889507"/>
                </a:lnTo>
                <a:lnTo>
                  <a:pt x="0" y="889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10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986558" y="933450"/>
            <a:ext cx="1431488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Finding my second family in tech : GDG Baku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7971" y="2312654"/>
            <a:ext cx="8200047" cy="1479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119" lvl="1" indent="-228559" algn="l">
              <a:lnSpc>
                <a:spcPts val="2964"/>
              </a:lnSpc>
              <a:buFont typeface="Arial"/>
              <a:buChar char="•"/>
            </a:pPr>
            <a:r>
              <a:rPr lang="en-US" sz="21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Late 2022 – I met what would become my second family</a:t>
            </a:r>
          </a:p>
          <a:p>
            <a:pPr marL="457119" lvl="1" indent="-228559" algn="l">
              <a:lnSpc>
                <a:spcPts val="2964"/>
              </a:lnSpc>
              <a:buFont typeface="Arial"/>
              <a:buChar char="•"/>
            </a:pPr>
            <a:r>
              <a:rPr lang="en-US" sz="21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community of people who believed in growth and support</a:t>
            </a:r>
          </a:p>
          <a:p>
            <a:pPr marL="457119" lvl="1" indent="-228559" algn="l">
              <a:lnSpc>
                <a:spcPts val="2964"/>
              </a:lnSpc>
              <a:buFont typeface="Arial"/>
              <a:buChar char="•"/>
            </a:pPr>
            <a:r>
              <a:rPr lang="en-US" sz="21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Today, they are some of my closest friends</a:t>
            </a:r>
          </a:p>
          <a:p>
            <a:pPr algn="l">
              <a:lnSpc>
                <a:spcPts val="2964"/>
              </a:lnSpc>
            </a:pPr>
            <a:endParaRPr lang="en-US" sz="2117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468907" y="4618112"/>
            <a:ext cx="10390479" cy="694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3"/>
              </a:lnSpc>
            </a:pPr>
            <a:r>
              <a:rPr lang="en-US" sz="412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My first real Tech community experience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81426" y="5977366"/>
            <a:ext cx="10090250" cy="1554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8135" lvl="1" indent="-239068" algn="l">
              <a:lnSpc>
                <a:spcPts val="3100"/>
              </a:lnSpc>
              <a:buFont typeface="Arial"/>
              <a:buChar char="•"/>
            </a:pPr>
            <a:r>
              <a:rPr lang="en-US" sz="22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DevFest 2022 was approaching</a:t>
            </a:r>
          </a:p>
          <a:p>
            <a:pPr marL="478135" lvl="1" indent="-239068" algn="l">
              <a:lnSpc>
                <a:spcPts val="3100"/>
              </a:lnSpc>
              <a:buFont typeface="Arial"/>
              <a:buChar char="•"/>
            </a:pPr>
            <a:r>
              <a:rPr lang="en-US" sz="22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new organizing team was being formed</a:t>
            </a:r>
          </a:p>
          <a:p>
            <a:pPr marL="478135" lvl="1" indent="-239068" algn="l">
              <a:lnSpc>
                <a:spcPts val="3100"/>
              </a:lnSpc>
              <a:buFont typeface="Arial"/>
              <a:buChar char="•"/>
            </a:pPr>
            <a:r>
              <a:rPr lang="en-US" sz="22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Malik brought everyone together and invited me as a WTM Ambassador</a:t>
            </a:r>
          </a:p>
          <a:p>
            <a:pPr algn="l">
              <a:lnSpc>
                <a:spcPts val="3100"/>
              </a:lnSpc>
            </a:pPr>
            <a:endParaRPr lang="en-US" sz="221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49313" y="7455994"/>
            <a:ext cx="10321483" cy="6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 learned : The best feeling is realizing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7545" y="8340090"/>
            <a:ext cx="7243882" cy="141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You are not alone in your journey</a:t>
            </a:r>
          </a:p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You can create value even as a beginner</a:t>
            </a:r>
          </a:p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Community can change your confidence</a:t>
            </a:r>
          </a:p>
        </p:txBody>
      </p:sp>
      <p:sp>
        <p:nvSpPr>
          <p:cNvPr id="9" name="Freeform 9"/>
          <p:cNvSpPr/>
          <p:nvPr/>
        </p:nvSpPr>
        <p:spPr>
          <a:xfrm>
            <a:off x="13814853" y="1820545"/>
            <a:ext cx="3153666" cy="3153666"/>
          </a:xfrm>
          <a:custGeom>
            <a:avLst/>
            <a:gdLst/>
            <a:ahLst/>
            <a:cxnLst/>
            <a:rect l="l" t="t" r="r" b="b"/>
            <a:pathLst>
              <a:path w="3153666" h="3153666">
                <a:moveTo>
                  <a:pt x="0" y="0"/>
                </a:moveTo>
                <a:lnTo>
                  <a:pt x="3153666" y="0"/>
                </a:lnTo>
                <a:lnTo>
                  <a:pt x="3153666" y="3153666"/>
                </a:lnTo>
                <a:lnTo>
                  <a:pt x="0" y="31536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34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23051" y="0"/>
            <a:ext cx="8376379" cy="10287000"/>
            <a:chOff x="0" y="0"/>
            <a:chExt cx="220612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6124" cy="2709333"/>
            </a:xfrm>
            <a:custGeom>
              <a:avLst/>
              <a:gdLst/>
              <a:ahLst/>
              <a:cxnLst/>
              <a:rect l="l" t="t" r="r" b="b"/>
              <a:pathLst>
                <a:path w="2206124" h="2709333">
                  <a:moveTo>
                    <a:pt x="0" y="0"/>
                  </a:moveTo>
                  <a:lnTo>
                    <a:pt x="2206124" y="0"/>
                  </a:lnTo>
                  <a:lnTo>
                    <a:pt x="22061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E9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206124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5856621" cy="10287000"/>
            <a:chOff x="0" y="0"/>
            <a:chExt cx="1542485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42485" cy="2709333"/>
            </a:xfrm>
            <a:custGeom>
              <a:avLst/>
              <a:gdLst/>
              <a:ahLst/>
              <a:cxnLst/>
              <a:rect l="l" t="t" r="r" b="b"/>
              <a:pathLst>
                <a:path w="1542485" h="2709333">
                  <a:moveTo>
                    <a:pt x="0" y="0"/>
                  </a:moveTo>
                  <a:lnTo>
                    <a:pt x="1542485" y="0"/>
                  </a:lnTo>
                  <a:lnTo>
                    <a:pt x="154248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542485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863482" y="9024906"/>
            <a:ext cx="1101410" cy="941926"/>
          </a:xfrm>
          <a:custGeom>
            <a:avLst/>
            <a:gdLst/>
            <a:ahLst/>
            <a:cxnLst/>
            <a:rect l="l" t="t" r="r" b="b"/>
            <a:pathLst>
              <a:path w="1101410" h="941926">
                <a:moveTo>
                  <a:pt x="0" y="0"/>
                </a:moveTo>
                <a:lnTo>
                  <a:pt x="1101410" y="0"/>
                </a:lnTo>
                <a:lnTo>
                  <a:pt x="1101410" y="941926"/>
                </a:lnTo>
                <a:lnTo>
                  <a:pt x="0" y="941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2" r="-422" b="-784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1543261" y="7523320"/>
            <a:ext cx="6421631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Each year, stronger voices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Each year, bigger impact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05109" y="537527"/>
            <a:ext cx="1367778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International Women’s Day events journey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912" y="2609085"/>
            <a:ext cx="5628798" cy="2741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1"/>
              </a:lnSpc>
            </a:pPr>
            <a:r>
              <a:rPr lang="en-US" sz="3107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Event themes by years:</a:t>
            </a:r>
          </a:p>
          <a:p>
            <a:pPr marL="670988" lvl="1" indent="-335494" algn="l">
              <a:lnSpc>
                <a:spcPts val="4351"/>
              </a:lnSpc>
              <a:buFont typeface="Arial"/>
              <a:buChar char="•"/>
            </a:pPr>
            <a:r>
              <a:rPr lang="en-US" sz="3107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2024 – Impact the Future</a:t>
            </a:r>
          </a:p>
          <a:p>
            <a:pPr marL="670988" lvl="1" indent="-335494" algn="l">
              <a:lnSpc>
                <a:spcPts val="4351"/>
              </a:lnSpc>
              <a:buFont typeface="Arial"/>
              <a:buChar char="•"/>
            </a:pPr>
            <a:r>
              <a:rPr lang="en-US" sz="3107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2025 – Redefine Possible</a:t>
            </a:r>
          </a:p>
          <a:p>
            <a:pPr marL="670988" lvl="1" indent="-335494" algn="l">
              <a:lnSpc>
                <a:spcPts val="4351"/>
              </a:lnSpc>
              <a:buFont typeface="Arial"/>
              <a:buChar char="•"/>
            </a:pPr>
            <a:r>
              <a:rPr lang="en-US" sz="3107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2026 – Break the Patterns</a:t>
            </a:r>
          </a:p>
          <a:p>
            <a:pPr algn="l">
              <a:lnSpc>
                <a:spcPts val="4351"/>
              </a:lnSpc>
            </a:pPr>
            <a:endParaRPr lang="en-US" sz="3107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388038" y="4526120"/>
            <a:ext cx="5155223" cy="30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Since 2024  International Women’s Day (IWD) events have been organized onsite in Baku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12369" cy="10287000"/>
          </a:xfrm>
          <a:custGeom>
            <a:avLst/>
            <a:gdLst/>
            <a:ahLst/>
            <a:cxnLst/>
            <a:rect l="l" t="t" r="r" b="b"/>
            <a:pathLst>
              <a:path w="18612369" h="10287000">
                <a:moveTo>
                  <a:pt x="0" y="0"/>
                </a:moveTo>
                <a:lnTo>
                  <a:pt x="18612369" y="0"/>
                </a:lnTo>
                <a:lnTo>
                  <a:pt x="186123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465" b="-4046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863482" y="9024906"/>
            <a:ext cx="1101410" cy="941926"/>
          </a:xfrm>
          <a:custGeom>
            <a:avLst/>
            <a:gdLst/>
            <a:ahLst/>
            <a:cxnLst/>
            <a:rect l="l" t="t" r="r" b="b"/>
            <a:pathLst>
              <a:path w="1101410" h="941926">
                <a:moveTo>
                  <a:pt x="0" y="0"/>
                </a:moveTo>
                <a:lnTo>
                  <a:pt x="1101410" y="0"/>
                </a:lnTo>
                <a:lnTo>
                  <a:pt x="1101410" y="941926"/>
                </a:lnTo>
                <a:lnTo>
                  <a:pt x="0" y="941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2" r="-422" b="-784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973434" y="935468"/>
            <a:ext cx="14275118" cy="720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59"/>
              </a:lnSpc>
              <a:spcBef>
                <a:spcPct val="0"/>
              </a:spcBef>
            </a:pPr>
            <a:r>
              <a:rPr lang="en-US" sz="425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most important lesson we learned in these years :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4258" y="2222698"/>
            <a:ext cx="9996672" cy="171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2709" lvl="1" indent="-351354" algn="just">
              <a:lnSpc>
                <a:spcPts val="4556"/>
              </a:lnSpc>
              <a:buFont typeface="Arial"/>
              <a:buChar char="•"/>
            </a:pPr>
            <a:r>
              <a:rPr lang="en-US" sz="32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Never stop</a:t>
            </a:r>
          </a:p>
          <a:p>
            <a:pPr marL="702709" lvl="1" indent="-351354" algn="just">
              <a:lnSpc>
                <a:spcPts val="4556"/>
              </a:lnSpc>
              <a:buFont typeface="Arial"/>
              <a:buChar char="•"/>
            </a:pPr>
            <a:r>
              <a:rPr lang="en-US" sz="32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Try to improve yourself a little every single day</a:t>
            </a:r>
          </a:p>
          <a:p>
            <a:pPr marL="702709" lvl="1" indent="-351354" algn="just">
              <a:lnSpc>
                <a:spcPts val="4556"/>
              </a:lnSpc>
              <a:buFont typeface="Arial"/>
              <a:buChar char="•"/>
            </a:pPr>
            <a:r>
              <a:rPr lang="en-US" sz="32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Consistency is more powerful than talent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92901" y="3804960"/>
            <a:ext cx="8193970" cy="774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34"/>
              </a:lnSpc>
            </a:pPr>
            <a:r>
              <a:rPr lang="en-US" sz="452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reality many women face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23528" y="5373432"/>
            <a:ext cx="7139954" cy="4428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27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Some people may say:</a:t>
            </a:r>
          </a:p>
          <a:p>
            <a:pPr marL="603851" lvl="1" indent="-301926" algn="l">
              <a:lnSpc>
                <a:spcPts val="3915"/>
              </a:lnSpc>
              <a:buFont typeface="Arial"/>
              <a:buChar char="•"/>
            </a:pPr>
            <a:r>
              <a:rPr lang="en-US" sz="27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"You can't do it"</a:t>
            </a:r>
          </a:p>
          <a:p>
            <a:pPr marL="603851" lvl="1" indent="-301926" algn="l">
              <a:lnSpc>
                <a:spcPts val="3915"/>
              </a:lnSpc>
              <a:buFont typeface="Arial"/>
              <a:buChar char="•"/>
            </a:pPr>
            <a:r>
              <a:rPr lang="en-US" sz="27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"This field is not for you"</a:t>
            </a:r>
          </a:p>
          <a:p>
            <a:pPr algn="l">
              <a:lnSpc>
                <a:spcPts val="3915"/>
              </a:lnSpc>
            </a:pPr>
            <a:endParaRPr lang="en-US" sz="2796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915"/>
              </a:lnSpc>
            </a:pPr>
            <a:r>
              <a:rPr lang="en-US" sz="27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Especially in environments dominated by:</a:t>
            </a:r>
          </a:p>
          <a:p>
            <a:pPr marL="603851" lvl="1" indent="-301926" algn="l">
              <a:lnSpc>
                <a:spcPts val="3915"/>
              </a:lnSpc>
              <a:buFont typeface="Arial"/>
              <a:buChar char="•"/>
            </a:pPr>
            <a:r>
              <a:rPr lang="en-US" sz="27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Men</a:t>
            </a:r>
          </a:p>
          <a:p>
            <a:pPr marL="603851" lvl="1" indent="-301926" algn="l">
              <a:lnSpc>
                <a:spcPts val="3915"/>
              </a:lnSpc>
              <a:buFont typeface="Arial"/>
              <a:buChar char="•"/>
            </a:pPr>
            <a:r>
              <a:rPr lang="en-US" sz="27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Senior authorities</a:t>
            </a:r>
          </a:p>
          <a:p>
            <a:pPr marL="603851" lvl="1" indent="-301926" algn="l">
              <a:lnSpc>
                <a:spcPts val="3915"/>
              </a:lnSpc>
              <a:buFont typeface="Arial"/>
              <a:buChar char="•"/>
            </a:pPr>
            <a:r>
              <a:rPr lang="en-US" sz="27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Traditional mindsets</a:t>
            </a:r>
          </a:p>
          <a:p>
            <a:pPr algn="l">
              <a:lnSpc>
                <a:spcPts val="3915"/>
              </a:lnSpc>
            </a:pPr>
            <a:endParaRPr lang="en-US" sz="2796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34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63482" y="9024906"/>
            <a:ext cx="1101410" cy="941926"/>
          </a:xfrm>
          <a:custGeom>
            <a:avLst/>
            <a:gdLst/>
            <a:ahLst/>
            <a:cxnLst/>
            <a:rect l="l" t="t" r="r" b="b"/>
            <a:pathLst>
              <a:path w="1101410" h="941926">
                <a:moveTo>
                  <a:pt x="0" y="0"/>
                </a:moveTo>
                <a:lnTo>
                  <a:pt x="1101410" y="0"/>
                </a:lnTo>
                <a:lnTo>
                  <a:pt x="1101410" y="941926"/>
                </a:lnTo>
                <a:lnTo>
                  <a:pt x="0" y="941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2" r="-422" b="-784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873979" y="2694756"/>
            <a:ext cx="4747612" cy="6330150"/>
          </a:xfrm>
          <a:custGeom>
            <a:avLst/>
            <a:gdLst/>
            <a:ahLst/>
            <a:cxnLst/>
            <a:rect l="l" t="t" r="r" b="b"/>
            <a:pathLst>
              <a:path w="4747612" h="6330150">
                <a:moveTo>
                  <a:pt x="0" y="0"/>
                </a:moveTo>
                <a:lnTo>
                  <a:pt x="4747613" y="0"/>
                </a:lnTo>
                <a:lnTo>
                  <a:pt x="4747613" y="6330150"/>
                </a:lnTo>
                <a:lnTo>
                  <a:pt x="0" y="6330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905000" y="903764"/>
            <a:ext cx="13418986" cy="887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But what happens if you don't stop?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7311" y="2841509"/>
            <a:ext cx="12199264" cy="2527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3607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 day:</a:t>
            </a:r>
          </a:p>
          <a:p>
            <a:pPr marL="778935" lvl="1" indent="-389468" algn="l">
              <a:lnSpc>
                <a:spcPts val="5050"/>
              </a:lnSpc>
              <a:buFont typeface="Arial"/>
              <a:buChar char="•"/>
            </a:pPr>
            <a:r>
              <a:rPr lang="en-US" sz="3607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same people who doubted you will respect you</a:t>
            </a:r>
          </a:p>
          <a:p>
            <a:pPr marL="778935" lvl="1" indent="-389468" algn="l">
              <a:lnSpc>
                <a:spcPts val="5050"/>
              </a:lnSpc>
              <a:buFont typeface="Arial"/>
              <a:buChar char="•"/>
            </a:pPr>
            <a:r>
              <a:rPr lang="en-US" sz="3607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They will shake your hand</a:t>
            </a:r>
          </a:p>
          <a:p>
            <a:pPr marL="778935" lvl="1" indent="-389468" algn="l">
              <a:lnSpc>
                <a:spcPts val="5050"/>
              </a:lnSpc>
              <a:buFont typeface="Arial"/>
              <a:buChar char="•"/>
            </a:pPr>
            <a:r>
              <a:rPr lang="en-US" sz="3607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They will say they are proud of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42503" y="7692896"/>
            <a:ext cx="10324071" cy="133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3821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 never stop, because your future success </a:t>
            </a:r>
          </a:p>
          <a:p>
            <a:pPr algn="l">
              <a:lnSpc>
                <a:spcPts val="5350"/>
              </a:lnSpc>
            </a:pPr>
            <a:r>
              <a:rPr lang="en-US" sz="3821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might already be watching you work today.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24978" y="9077325"/>
            <a:ext cx="1254505" cy="889507"/>
          </a:xfrm>
          <a:custGeom>
            <a:avLst/>
            <a:gdLst/>
            <a:ahLst/>
            <a:cxnLst/>
            <a:rect l="l" t="t" r="r" b="b"/>
            <a:pathLst>
              <a:path w="1254505" h="889507">
                <a:moveTo>
                  <a:pt x="0" y="0"/>
                </a:moveTo>
                <a:lnTo>
                  <a:pt x="1254505" y="0"/>
                </a:lnTo>
                <a:lnTo>
                  <a:pt x="1254505" y="889507"/>
                </a:lnTo>
                <a:lnTo>
                  <a:pt x="0" y="889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10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711831" y="942975"/>
            <a:ext cx="8547470" cy="7560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48"/>
              </a:lnSpc>
              <a:spcBef>
                <a:spcPct val="0"/>
              </a:spcBef>
            </a:pPr>
            <a:r>
              <a:rPr lang="en-US" sz="453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WTM matters to 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7609" y="2285290"/>
            <a:ext cx="10995186" cy="639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7"/>
              </a:lnSpc>
            </a:pPr>
            <a:r>
              <a:rPr lang="en-US" sz="376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 became a WTM Ambassador because I want 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7609" y="3394084"/>
            <a:ext cx="8054221" cy="196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Show women that career change is possible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Build supportive tech communities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Help women believe in their potential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Break the invisible barriers in tech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200" y="9247958"/>
            <a:ext cx="16266140" cy="600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Because sometimes one belief can change someone's entire life path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44400" y="4093955"/>
            <a:ext cx="4084923" cy="679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39"/>
              </a:lnSpc>
              <a:spcBef>
                <a:spcPct val="0"/>
              </a:spcBef>
            </a:pPr>
            <a:r>
              <a:rPr lang="en-US" sz="395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But the truth is :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00191" y="5143500"/>
            <a:ext cx="8792409" cy="976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right people will find you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people who truly see your value will say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40434" y="6649531"/>
            <a:ext cx="6428547" cy="2010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4"/>
              </a:lnSpc>
            </a:pPr>
            <a:r>
              <a:rPr lang="en-US" sz="581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"You are capable"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44028" y="9077325"/>
            <a:ext cx="1254505" cy="889507"/>
          </a:xfrm>
          <a:custGeom>
            <a:avLst/>
            <a:gdLst/>
            <a:ahLst/>
            <a:cxnLst/>
            <a:rect l="l" t="t" r="r" b="b"/>
            <a:pathLst>
              <a:path w="1254505" h="889507">
                <a:moveTo>
                  <a:pt x="0" y="0"/>
                </a:moveTo>
                <a:lnTo>
                  <a:pt x="1254505" y="0"/>
                </a:lnTo>
                <a:lnTo>
                  <a:pt x="1254505" y="889507"/>
                </a:lnTo>
                <a:lnTo>
                  <a:pt x="0" y="889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10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780628" y="5454093"/>
            <a:ext cx="11180323" cy="238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6"/>
              </a:lnSpc>
            </a:pPr>
            <a:r>
              <a:rPr lang="en-US" sz="454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for joining us &lt;3</a:t>
            </a:r>
          </a:p>
          <a:p>
            <a:pPr algn="ctr">
              <a:lnSpc>
                <a:spcPts val="6366"/>
              </a:lnSpc>
            </a:pPr>
            <a:endParaRPr lang="en-US" sz="4547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6366"/>
              </a:lnSpc>
            </a:pPr>
            <a:r>
              <a:rPr lang="en-US" sz="454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 wait for your new stories, be brave :)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1581" y="1459168"/>
            <a:ext cx="4451618" cy="4451618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306331" y="549801"/>
            <a:ext cx="3145899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Instagram of WTM Baku :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86" y="1460522"/>
            <a:ext cx="4435367" cy="4435367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432244" y="962025"/>
            <a:ext cx="288905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About of me 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767</Words>
  <Application>Microsoft Office PowerPoint</Application>
  <PresentationFormat>Custom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Canva Sans</vt:lpstr>
      <vt:lpstr>Canva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Lala_Ibadullayeva_IWD26</dc:title>
  <cp:lastModifiedBy>user</cp:lastModifiedBy>
  <cp:revision>2</cp:revision>
  <dcterms:created xsi:type="dcterms:W3CDTF">2006-08-16T00:00:00Z</dcterms:created>
  <dcterms:modified xsi:type="dcterms:W3CDTF">2026-06-23T10:14:52Z</dcterms:modified>
  <dc:identifier>DAHD0AoSBYk</dc:identifier>
</cp:coreProperties>
</file>