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8889" autoAdjust="0"/>
  </p:normalViewPr>
  <p:slideViewPr>
    <p:cSldViewPr snapToGrid="0" snapToObjects="1">
      <p:cViewPr varScale="1">
        <p:scale>
          <a:sx n="73" d="100"/>
          <a:sy n="73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Zettabayt</c:v>
                </c:pt>
              </c:strCache>
            </c:strRef>
          </c:tx>
          <c:spPr>
            <a:solidFill>
              <a:srgbClr val="4285F4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02124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2018</c:v>
                </c:pt>
                <c:pt idx="1">
                  <c:v>2020</c:v>
                </c:pt>
                <c:pt idx="2">
                  <c:v>2022</c:v>
                </c:pt>
                <c:pt idx="3">
                  <c:v>2024</c:v>
                </c:pt>
                <c:pt idx="4">
                  <c:v>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</c:v>
                </c:pt>
                <c:pt idx="1">
                  <c:v>64</c:v>
                </c:pt>
                <c:pt idx="2">
                  <c:v>97</c:v>
                </c:pt>
                <c:pt idx="3">
                  <c:v>149</c:v>
                </c:pt>
                <c:pt idx="4">
                  <c:v>221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AC-469C-B6CF-196B40DBB6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3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6757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.png"/><Relationship Id="rId4" Type="http://schemas.openxmlformats.org/officeDocument/2006/relationships/image" Target="../media/image35.png"/><Relationship Id="rId9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43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16.png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57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31520"/>
            <a:ext cx="502920" cy="50292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417320" y="640080"/>
            <a:ext cx="310896" cy="310896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1325880"/>
            <a:ext cx="274320" cy="274320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81328" y="1188720"/>
            <a:ext cx="384048" cy="384048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BB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AKTUAL BİLİKLƏR · 2026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r>
              <a:rPr lang="en-US" sz="9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&amp;  </a:t>
            </a:r>
            <a:r>
              <a:rPr lang="en-US" sz="920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92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Süni intellekt </a:t>
            </a:r>
            <a:r>
              <a:rPr lang="en-US" sz="1900" dirty="0" err="1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və</a:t>
            </a:r>
            <a:r>
              <a:rPr lang="en-US" sz="1900" dirty="0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dirty="0" err="1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datada</a:t>
            </a:r>
            <a:r>
              <a:rPr lang="en-US" sz="1900" dirty="0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nə </a:t>
            </a:r>
            <a:r>
              <a:rPr lang="en-US" sz="1900" dirty="0" err="1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</a:t>
            </a:r>
            <a:r>
              <a:rPr lang="en-US" sz="1900" dirty="0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dirty="0" err="1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verir</a:t>
            </a:r>
            <a:r>
              <a:rPr lang="en-US" sz="1900" dirty="0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və sən bunu bu gün necə </a:t>
            </a:r>
            <a:r>
              <a:rPr lang="en-US" sz="1900" dirty="0" err="1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işlədə</a:t>
            </a:r>
            <a:r>
              <a:rPr lang="en-US" sz="1900" dirty="0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dirty="0" err="1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bilərsən</a:t>
            </a:r>
            <a:r>
              <a:rPr lang="en-US" sz="1900" dirty="0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4983480"/>
            <a:ext cx="3840480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5074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Lala Ibadullayeva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5504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c. @ Computational Structural Biology  ·  WTM Baku Ambassador  ·  GDG Baku Organizer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MƏNIM YOLUM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Antropologiyadan süni intellektə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Sahəni dəyişmək heç vaxt </a:t>
            </a:r>
            <a:r>
              <a:rPr lang="en-US" sz="1350" i="1" dirty="0" err="1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</a:t>
            </a:r>
            <a:r>
              <a:rPr lang="en-US" sz="13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i="1" dirty="0" err="1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deyil</a:t>
            </a:r>
            <a:r>
              <a:rPr lang="en-US" sz="13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və ən maraqlı kəşflər sərhədlərdə doğulur.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97280" y="3383280"/>
            <a:ext cx="10058400" cy="0"/>
          </a:xfrm>
          <a:prstGeom prst="line">
            <a:avLst/>
          </a:prstGeom>
          <a:noFill/>
          <a:ln w="254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50976" y="3236976"/>
            <a:ext cx="292608" cy="292608"/>
          </a:xfrm>
          <a:prstGeom prst="ellipse">
            <a:avLst/>
          </a:prstGeom>
          <a:solidFill>
            <a:srgbClr val="4285F4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0" y="3657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BSU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-45720" y="4005072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Tarix / Antropologiya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0604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2019–21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465576" y="3236976"/>
            <a:ext cx="292608" cy="292608"/>
          </a:xfrm>
          <a:prstGeom prst="ellipse">
            <a:avLst/>
          </a:prstGeom>
          <a:solidFill>
            <a:srgbClr val="EA433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14600" y="3657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MSc Anthropology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68880" y="4005072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98 / 100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2064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0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980176" y="3236976"/>
            <a:ext cx="292608" cy="292608"/>
          </a:xfrm>
          <a:prstGeom prst="ellipse">
            <a:avLst/>
          </a:prstGeom>
          <a:solidFill>
            <a:srgbClr val="FBBC04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0" y="3657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Sahə</a:t>
            </a:r>
            <a:r>
              <a:rPr lang="en-US" sz="13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dəyi</a:t>
            </a:r>
            <a:r>
              <a:rPr lang="en-US" sz="1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şikliyi</a:t>
            </a:r>
            <a:endParaRPr lang="en-US" sz="1300" b="1" dirty="0"/>
          </a:p>
        </p:txBody>
      </p:sp>
      <p:sp>
        <p:nvSpPr>
          <p:cNvPr id="17" name="Text 15"/>
          <p:cNvSpPr/>
          <p:nvPr/>
        </p:nvSpPr>
        <p:spPr>
          <a:xfrm>
            <a:off x="4983480" y="4005072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</a:t>
            </a:r>
            <a:r>
              <a:rPr lang="en-US" sz="1050" b="1" dirty="0" err="1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r>
              <a:rPr lang="en-US" sz="1050" b="1" dirty="0" err="1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ərari</a:t>
            </a:r>
            <a:endParaRPr lang="en-US" sz="105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763524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494776" y="3236976"/>
            <a:ext cx="292608" cy="292608"/>
          </a:xfrm>
          <a:prstGeom prst="ellipse">
            <a:avLst/>
          </a:prstGeom>
          <a:solidFill>
            <a:srgbClr val="34A85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43800" y="3657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Yeni </a:t>
            </a:r>
            <a:r>
              <a:rPr lang="en-US" sz="1300" b="1" dirty="0" err="1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sahə</a:t>
            </a:r>
            <a:r>
              <a:rPr lang="en-US" sz="13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00" b="1" dirty="0" err="1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tək</a:t>
            </a:r>
            <a:r>
              <a:rPr lang="en-US" sz="13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 err="1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hədəf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98080" y="4005072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Bioinformatika · Cambridge (MRC LMB)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14984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2022+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1009376" y="3236976"/>
            <a:ext cx="292608" cy="292608"/>
          </a:xfrm>
          <a:prstGeom prst="ellipse">
            <a:avLst/>
          </a:prstGeom>
          <a:solidFill>
            <a:srgbClr val="1A73E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058400" y="3657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İcma lideri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12680" y="4005072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WTM Ambassador · GDG Organizer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5212080"/>
            <a:ext cx="10881360" cy="1005840"/>
          </a:xfrm>
          <a:prstGeom prst="roundRect">
            <a:avLst>
              <a:gd name="adj" fmla="val 8182"/>
            </a:avLst>
          </a:prstGeom>
          <a:solidFill>
            <a:srgbClr val="E6F4E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22960" y="5440680"/>
            <a:ext cx="502920" cy="502920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748" y="5576468"/>
            <a:ext cx="231343" cy="231343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508760" y="52120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“Texnologiyada böyümək təkcə </a:t>
            </a:r>
            <a:r>
              <a:rPr lang="en-US" sz="1600" b="1" i="1" dirty="0" err="1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öyrənmək</a:t>
            </a:r>
            <a:r>
              <a:rPr lang="en-US" sz="1600" b="1" i="1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err="1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deyil</a:t>
            </a:r>
            <a:r>
              <a:rPr lang="en-US" sz="1600" b="1" i="1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b="1" i="1" dirty="0" err="1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insanlara</a:t>
            </a:r>
            <a:r>
              <a:rPr lang="en-US" sz="1600" b="1" i="1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yol açmaqdır.”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GÜNDƏM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gün nə öyrənəcəyik?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1078992"/>
          </a:xfrm>
          <a:prstGeom prst="roundRect">
            <a:avLst>
              <a:gd name="adj" fmla="val 7627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" y="1883664"/>
            <a:ext cx="530352" cy="530352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867" y="2026859"/>
            <a:ext cx="243962" cy="2439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830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</a:t>
            </a:r>
            <a:r>
              <a:rPr lang="en-US" sz="1700" b="1" dirty="0" err="1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Frontier’i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508760" y="2148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data-da indi nə baş verir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257800" cy="1078992"/>
          </a:xfrm>
          <a:prstGeom prst="roundRect">
            <a:avLst>
              <a:gd name="adj" fmla="val 7627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28232" y="1883664"/>
            <a:ext cx="530352" cy="530352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427" y="2026859"/>
            <a:ext cx="243962" cy="2439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7830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: yeni neft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132320" y="2148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Keyfiyyət, big data, governance, GDPR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2935224"/>
            <a:ext cx="5257800" cy="1078992"/>
          </a:xfrm>
          <a:prstGeom prst="roundRect">
            <a:avLst>
              <a:gd name="adj" fmla="val 7627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04672" y="3218688"/>
            <a:ext cx="530352" cy="530352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867" y="3361883"/>
            <a:ext cx="243962" cy="2439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1181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infrastrukturu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508760" y="348386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Bulud: saxlama və emal (qısa baxış)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72200" y="2935224"/>
            <a:ext cx="5257800" cy="1078992"/>
          </a:xfrm>
          <a:prstGeom prst="roundRect">
            <a:avLst>
              <a:gd name="adj" fmla="val 7627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428232" y="3218688"/>
            <a:ext cx="530352" cy="530352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1427" y="3361883"/>
            <a:ext cx="243962" cy="2439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1181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dərindən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132320" y="348386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· Deep Learning · GenAI · LLM-lər · prompt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48640" y="4270248"/>
            <a:ext cx="5257800" cy="1078992"/>
          </a:xfrm>
          <a:prstGeom prst="roundRect">
            <a:avLst>
              <a:gd name="adj" fmla="val 7627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804672" y="4553712"/>
            <a:ext cx="530352" cy="530352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867" y="4696907"/>
            <a:ext cx="243962" cy="24396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44531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elmdə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1508760" y="48188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Nobel mükafatı &amp; bioinformatika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6172200" y="4270248"/>
            <a:ext cx="5257800" cy="1078992"/>
          </a:xfrm>
          <a:prstGeom prst="roundRect">
            <a:avLst>
              <a:gd name="adj" fmla="val 7627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428232" y="4553712"/>
            <a:ext cx="530352" cy="530352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1427" y="4696907"/>
            <a:ext cx="243962" cy="24396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32320" y="44531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alətləri</a:t>
            </a:r>
            <a:endParaRPr lang="en-US" sz="1700" dirty="0"/>
          </a:p>
        </p:txBody>
      </p:sp>
      <p:sp>
        <p:nvSpPr>
          <p:cNvPr id="33" name="Text 25"/>
          <p:cNvSpPr/>
          <p:nvPr/>
        </p:nvSpPr>
        <p:spPr>
          <a:xfrm>
            <a:off x="7132320" y="48188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Hər mövzuda pulsuz, real nümunələr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· FRONTIER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İndi AI &amp; data-da nə baş verir?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12 ayda dünya sürətlə dəyişdi. Budur bilməli olduğunuz 6 cərəyan: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444240" cy="1554480"/>
          </a:xfrm>
          <a:prstGeom prst="roundRect">
            <a:avLst>
              <a:gd name="adj" fmla="val 5294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2048256"/>
            <a:ext cx="548640" cy="54864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3" y="2196389"/>
            <a:ext cx="252374" cy="2523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44752" y="2048256"/>
            <a:ext cx="2392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modellər yarışı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743200"/>
            <a:ext cx="303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3, GPT-5, Claude, Grok </a:t>
            </a:r>
            <a:r>
              <a:rPr lang="en-US" sz="1100" dirty="0" err="1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həftələrlə</a:t>
            </a: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fərqlə yenilənir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67200" y="1828800"/>
            <a:ext cx="3444240" cy="1554480"/>
          </a:xfrm>
          <a:prstGeom prst="roundRect">
            <a:avLst>
              <a:gd name="adj" fmla="val 5294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495800" y="2048256"/>
            <a:ext cx="548640" cy="548640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933" y="2196389"/>
            <a:ext cx="252374" cy="25237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3312" y="2048256"/>
            <a:ext cx="2392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AI: demo → production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495800" y="2743200"/>
            <a:ext cx="303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“Yarada bilir” dövrü bitdi; “iş görə bilir” başladı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985760" y="1828800"/>
            <a:ext cx="3444240" cy="1554480"/>
          </a:xfrm>
          <a:prstGeom prst="roundRect">
            <a:avLst>
              <a:gd name="adj" fmla="val 5294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214360" y="2048256"/>
            <a:ext cx="548640" cy="548640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2493" y="2196389"/>
            <a:ext cx="252374" cy="25237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81872" y="2048256"/>
            <a:ext cx="2392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default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214360" y="2743200"/>
            <a:ext cx="303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model: mətn + şəkil + səs + video birlikdə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3566160"/>
            <a:ext cx="3444240" cy="1554480"/>
          </a:xfrm>
          <a:prstGeom prst="roundRect">
            <a:avLst>
              <a:gd name="adj" fmla="val 5294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777240" y="3785616"/>
            <a:ext cx="548640" cy="548640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373" y="3933749"/>
            <a:ext cx="252374" cy="25237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44752" y="3785616"/>
            <a:ext cx="2392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(düşünən) modellər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77240" y="4480560"/>
            <a:ext cx="303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Addım-addım məntiqlə mürəkkəb problemləri həll edir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267200" y="3566160"/>
            <a:ext cx="3444240" cy="1554480"/>
          </a:xfrm>
          <a:prstGeom prst="roundRect">
            <a:avLst>
              <a:gd name="adj" fmla="val 5294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495800" y="3785616"/>
            <a:ext cx="548640" cy="54864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3933" y="3933749"/>
            <a:ext cx="252374" cy="25237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63312" y="3785616"/>
            <a:ext cx="2392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Kiçik · ucuz · on-device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495800" y="4480560"/>
            <a:ext cx="303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Telefonda işləyən ixtisaslaşmış modellər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7985760" y="3566160"/>
            <a:ext cx="3444240" cy="1554480"/>
          </a:xfrm>
          <a:prstGeom prst="roundRect">
            <a:avLst>
              <a:gd name="adj" fmla="val 5294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214360" y="3785616"/>
            <a:ext cx="548640" cy="548640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2493" y="3933749"/>
            <a:ext cx="252374" cy="25237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881872" y="3785616"/>
            <a:ext cx="2392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yenidən kraldır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8214360" y="4480560"/>
            <a:ext cx="303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Agentlər data anbarından oxuyur; keyfiyyət = uğur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0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91440"/>
            <a:ext cx="4572000" cy="667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800" b="1" dirty="0">
                <a:solidFill>
                  <a:srgbClr val="2D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800" dirty="0"/>
          </a:p>
        </p:txBody>
      </p:sp>
      <p:sp>
        <p:nvSpPr>
          <p:cNvPr id="3" name="Text 1"/>
          <p:cNvSpPr/>
          <p:nvPr/>
        </p:nvSpPr>
        <p:spPr>
          <a:xfrm>
            <a:off x="59436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BIRINCI BÖLMƏ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94359" y="3886200"/>
            <a:ext cx="80451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Hər şey </a:t>
            </a:r>
            <a:r>
              <a:rPr lang="en-US" sz="1800" dirty="0" err="1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datadan</a:t>
            </a:r>
            <a:r>
              <a:rPr lang="en-US" sz="1800" dirty="0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başlayır</a:t>
            </a:r>
            <a:r>
              <a:rPr lang="en-US" dirty="0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 err="1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onu</a:t>
            </a:r>
            <a:r>
              <a:rPr lang="en-US" sz="1800" dirty="0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anlamadan rəqəmsal dünyada irəliləmək mümkün deyil.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4892040"/>
            <a:ext cx="237744" cy="237744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4984" y="4892040"/>
            <a:ext cx="237744" cy="237744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35608" y="4892040"/>
            <a:ext cx="237744" cy="237744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56232" y="4892040"/>
            <a:ext cx="237744" cy="237744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BÖLMƏ 01 ·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nədir? Data savadlılığı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: </a:t>
            </a:r>
            <a:r>
              <a:rPr lang="en-US" sz="15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emal olunmamış xam faktlar: rəqəmlər, mətnlər, şəkillər, kliklər. Tək başına məna daşımır.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Məlumat (Information) : </a:t>
            </a:r>
            <a:r>
              <a:rPr lang="en-US" sz="15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mənalı şəkildə təşkil olunmuş, kontekst qazanmış data.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E8F0FE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Data savadlılığı (Data Literacy) nədir?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Datanı oxuya, anlaya, ona sual verə və qərar üçün istifadə edə bilmək bacarığı.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21-ci əsrin yeni </a:t>
            </a:r>
            <a:r>
              <a:rPr lang="en-US" sz="1400" dirty="0" err="1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savadlılığıdır</a:t>
            </a: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tibb, biznes, elm - qərarlar artıq data ilə verilir.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166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Sən datanı oxumursansa, başqası onu sənin yerinə oxuyacaq.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818120" y="1783080"/>
            <a:ext cx="1828800" cy="713232"/>
          </a:xfrm>
          <a:prstGeom prst="trapezoid">
            <a:avLst/>
          </a:prstGeom>
          <a:solidFill>
            <a:srgbClr val="34A85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18120" y="178308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MÜDRİKLİK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06640" y="2569464"/>
            <a:ext cx="2651760" cy="713232"/>
          </a:xfrm>
          <a:prstGeom prst="trapezoid">
            <a:avLst/>
          </a:prstGeom>
          <a:solidFill>
            <a:srgbClr val="FBBC04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06640" y="2569464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BİLİK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95160" y="3355848"/>
            <a:ext cx="3474720" cy="713232"/>
          </a:xfrm>
          <a:prstGeom prst="trapezoid">
            <a:avLst/>
          </a:prstGeom>
          <a:solidFill>
            <a:srgbClr val="EA433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95160" y="3355848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MƏLUMAT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0" y="4142232"/>
            <a:ext cx="4297680" cy="713232"/>
          </a:xfrm>
          <a:prstGeom prst="trapezoid">
            <a:avLst/>
          </a:prstGeom>
          <a:solidFill>
            <a:srgbClr val="4285F4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0" y="4142232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5166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DIKW </a:t>
            </a:r>
            <a:r>
              <a:rPr lang="en-US" sz="1200" i="1" dirty="0" err="1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iyerarxiyası</a:t>
            </a:r>
            <a:r>
              <a:rPr lang="en-US" sz="1200" i="1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xam datadan müdrikliyə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BÖLMƏ 01 ·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Datanın növləri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83280" cy="3200400"/>
          </a:xfrm>
          <a:prstGeom prst="roundRect">
            <a:avLst>
              <a:gd name="adj" fmla="val 2571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658368" cy="658368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19" y="2143719"/>
            <a:ext cx="302849" cy="302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889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Strukturlaşdırılmış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Sətir və sütunlara düzülmüş, asan axtarılan data.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41605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Nümunələr: </a:t>
            </a: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Cədvəllər, SQL bazaları, Excel, sensor ölçmələri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97680" y="1691640"/>
            <a:ext cx="3383280" cy="3200400"/>
          </a:xfrm>
          <a:prstGeom prst="roundRect">
            <a:avLst>
              <a:gd name="adj" fmla="val 2571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72000" y="1965960"/>
            <a:ext cx="658368" cy="658368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759" y="2143719"/>
            <a:ext cx="302849" cy="30284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27889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Yarımstrukturlu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572000" y="34290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Qismən təşkil olunmuş, çevik formatlı data.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0" y="41605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Nümunələr: </a:t>
            </a: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JSON, XML, e-poçt, HTML, log faylları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46720" y="1691640"/>
            <a:ext cx="3383280" cy="3200400"/>
          </a:xfrm>
          <a:prstGeom prst="roundRect">
            <a:avLst>
              <a:gd name="adj" fmla="val 2571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321040" y="1965960"/>
            <a:ext cx="658368" cy="658368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8799" y="2143719"/>
            <a:ext cx="302849" cy="30284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21040" y="27889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Strukturlaşdırılmamış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321040" y="34290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 </a:t>
            </a:r>
            <a:r>
              <a:rPr lang="en-US" sz="1350" dirty="0" err="1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formatı</a:t>
            </a:r>
            <a:r>
              <a:rPr lang="en-US" sz="13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olmayan</a:t>
            </a:r>
            <a:r>
              <a:rPr lang="en-US" sz="13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bütün datanın ~90%-i.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8321040" y="41605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Nümunələr: </a:t>
            </a: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Mətn, şəkil, video, səs, sosial media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5257800"/>
            <a:ext cx="10881360" cy="1005840"/>
          </a:xfrm>
          <a:prstGeom prst="roundRect">
            <a:avLst>
              <a:gd name="adj" fmla="val 8182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822960" y="5413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Başqa bölgü: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22960" y="574243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Kəmiyyət (Quantitative) </a:t>
            </a:r>
            <a:r>
              <a:rPr lang="en-US" sz="135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3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rəqəmlərlə ölçülən (boy, qiymət).      </a:t>
            </a:r>
            <a:r>
              <a:rPr lang="en-US" sz="135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Keyfiyyət (Qualitative) </a:t>
            </a:r>
            <a:r>
              <a:rPr lang="en-US" sz="135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3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təsviri, kateqoriyalı (rəng, rəy).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BÖLMƏ 01 ·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Böyük Data (Big Data) - 5V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993392" cy="2697480"/>
          </a:xfrm>
          <a:prstGeom prst="roundRect">
            <a:avLst>
              <a:gd name="adj" fmla="val 4128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61288" y="1920240"/>
            <a:ext cx="768096" cy="768096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61288" y="19202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307238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Həcm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8368" y="3401568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Nəhəng </a:t>
            </a:r>
            <a:r>
              <a:rPr lang="en-US" sz="1100" dirty="0" err="1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miqdar</a:t>
            </a: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terabaytlarla, petabaytlarla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70632" y="1691640"/>
            <a:ext cx="1993392" cy="2697480"/>
          </a:xfrm>
          <a:prstGeom prst="roundRect">
            <a:avLst>
              <a:gd name="adj" fmla="val 4128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83280" y="1920240"/>
            <a:ext cx="768096" cy="768096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19202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862072" y="278892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862072" y="307238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Sürət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880360" y="3401568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vaxtda, dayanmadan axın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92624" y="1691640"/>
            <a:ext cx="1993392" cy="2697480"/>
          </a:xfrm>
          <a:prstGeom prst="roundRect">
            <a:avLst>
              <a:gd name="adj" fmla="val 4128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605272" y="1920240"/>
            <a:ext cx="768096" cy="768096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05272" y="19202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084064" y="278892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Variety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084064" y="307238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0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Müxtəliflik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102352" y="3401568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Mətn, şəkil, video : fərqli formatlar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14616" y="1691640"/>
            <a:ext cx="1993392" cy="2697480"/>
          </a:xfrm>
          <a:prstGeom prst="roundRect">
            <a:avLst>
              <a:gd name="adj" fmla="val 4128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827264" y="1920240"/>
            <a:ext cx="768096" cy="768096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827264" y="19202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306056" y="278892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Veracity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306056" y="307238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Doğruluq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324344" y="3401568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Keyfiyyət və etibarlılıq dərəcəsi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436608" y="1691640"/>
            <a:ext cx="1993392" cy="2697480"/>
          </a:xfrm>
          <a:prstGeom prst="roundRect">
            <a:avLst>
              <a:gd name="adj" fmla="val 4128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049256" y="1920240"/>
            <a:ext cx="768096" cy="768096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049256" y="19202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9528048" y="278892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528048" y="307238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Dəyər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546336" y="3401568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və elmi </a:t>
            </a:r>
            <a:r>
              <a:rPr lang="en-US" sz="1100" dirty="0" err="1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fayda</a:t>
            </a: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ən vacibi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663440"/>
            <a:ext cx="3444240" cy="1600200"/>
          </a:xfrm>
          <a:prstGeom prst="roundRect">
            <a:avLst>
              <a:gd name="adj" fmla="val 5143"/>
            </a:avLst>
          </a:prstGeom>
          <a:solidFill>
            <a:srgbClr val="202124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31520" y="4828032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~402 mln TB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731520" y="5486400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hər gün dünyada yaranan data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267200" y="4663440"/>
            <a:ext cx="3444240" cy="1600200"/>
          </a:xfrm>
          <a:prstGeom prst="roundRect">
            <a:avLst>
              <a:gd name="adj" fmla="val 5143"/>
            </a:avLst>
          </a:prstGeom>
          <a:solidFill>
            <a:srgbClr val="202124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450080" y="4828032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~90%</a:t>
            </a:r>
            <a:endParaRPr lang="en-US" sz="3600" dirty="0"/>
          </a:p>
        </p:txBody>
      </p:sp>
      <p:sp>
        <p:nvSpPr>
          <p:cNvPr id="39" name="Text 37"/>
          <p:cNvSpPr/>
          <p:nvPr/>
        </p:nvSpPr>
        <p:spPr>
          <a:xfrm>
            <a:off x="4450080" y="5486400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bütün datanın son 2 ildə yaranıb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985760" y="4663440"/>
            <a:ext cx="3444240" cy="1600200"/>
          </a:xfrm>
          <a:prstGeom prst="roundRect">
            <a:avLst>
              <a:gd name="adj" fmla="val 5143"/>
            </a:avLst>
          </a:prstGeom>
          <a:solidFill>
            <a:srgbClr val="202124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168640" y="4828032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~90%</a:t>
            </a:r>
            <a:endParaRPr lang="en-US" sz="3600" dirty="0"/>
          </a:p>
        </p:txBody>
      </p:sp>
      <p:sp>
        <p:nvSpPr>
          <p:cNvPr id="42" name="Text 40"/>
          <p:cNvSpPr/>
          <p:nvPr/>
        </p:nvSpPr>
        <p:spPr>
          <a:xfrm>
            <a:off x="8168640" y="5486400"/>
            <a:ext cx="307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datanın strukturlaşdırılmamış hissəsi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Mənbə: Statista, 2024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BÖLMƏ 01 ·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: yeni neft, yeni yanacaq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77240" cy="777240"/>
          </a:xfrm>
          <a:prstGeom prst="ellipse">
            <a:avLst/>
          </a:prstGeom>
          <a:solidFill>
            <a:srgbClr val="20212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95" y="1901495"/>
            <a:ext cx="357530" cy="3575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7373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“Data is the new oil”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 Clive Humby, 2006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48640" y="27432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Amma xam neft kimi: </a:t>
            </a:r>
            <a:r>
              <a:rPr lang="en-US" sz="15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da emal olunmadan dəyərsizdir. Dəyər çıxarmaq üçün onu təmizləmək, analiz etmək və mənalandırmaq lazımdır.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48640" y="3931920"/>
            <a:ext cx="1051560" cy="105156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3931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Topla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429768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920240" y="3931920"/>
            <a:ext cx="1051560" cy="1051560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1920240" y="3931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Təmizlə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4297680"/>
            <a:ext cx="274320" cy="2743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291840" y="3931920"/>
            <a:ext cx="1051560" cy="1051560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3291840" y="3931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 et</a:t>
            </a:r>
            <a:endParaRPr lang="en-US" sz="13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429768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663440" y="3931920"/>
            <a:ext cx="1051560" cy="1051560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4663440" y="3931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Dəyər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492240" y="1691640"/>
            <a:ext cx="4937760" cy="4526280"/>
          </a:xfrm>
          <a:prstGeom prst="roundRect">
            <a:avLst>
              <a:gd name="adj" fmla="val 1616"/>
            </a:avLst>
          </a:prstGeom>
          <a:solidFill>
            <a:srgbClr val="FCE8E6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6766560" y="1965960"/>
            <a:ext cx="640080" cy="640080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9382" y="2138782"/>
            <a:ext cx="294437" cy="29443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54380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52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Keyfiyyət qaydası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6766560" y="28803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Garbage In → Garbage Out</a:t>
            </a:r>
            <a:endParaRPr lang="en-US" sz="2200" dirty="0"/>
          </a:p>
        </p:txBody>
      </p:sp>
      <p:sp>
        <p:nvSpPr>
          <p:cNvPr id="24" name="Text 17"/>
          <p:cNvSpPr/>
          <p:nvPr/>
        </p:nvSpPr>
        <p:spPr>
          <a:xfrm>
            <a:off x="6766560" y="3383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Zibil giriş  →  Zibil çıxış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766560" y="39776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 data </a:t>
            </a: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pis qərar. </a:t>
            </a:r>
            <a:r>
              <a:rPr lang="en-US" sz="1500" b="1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Təmiz, etibarlı data </a:t>
            </a: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yaxşı qərar.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6766560" y="49377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Ən güclü AI modeli belə pis data üzərində pis nəticə verir. Əvvəlcə data keyfiyyəti!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0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91440"/>
            <a:ext cx="4572000" cy="667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800" b="1" dirty="0">
                <a:solidFill>
                  <a:srgbClr val="2D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800" dirty="0"/>
          </a:p>
        </p:txBody>
      </p:sp>
      <p:sp>
        <p:nvSpPr>
          <p:cNvPr id="3" name="Text 1"/>
          <p:cNvSpPr/>
          <p:nvPr/>
        </p:nvSpPr>
        <p:spPr>
          <a:xfrm>
            <a:off x="59436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İKINCI BÖLMƏ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Məxfilik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94359" y="3886200"/>
            <a:ext cx="851810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</a:t>
            </a:r>
            <a:r>
              <a:rPr lang="en-US" sz="1800" dirty="0" err="1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güc</a:t>
            </a:r>
            <a:r>
              <a:rPr lang="en-US" sz="1800" dirty="0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deməkdir</a:t>
            </a:r>
            <a:r>
              <a:rPr lang="en-US" dirty="0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800" dirty="0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gücün isə məsuliyyəti var. Datanı necə idarə edirik və qoruyuruq?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4892040"/>
            <a:ext cx="237744" cy="237744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4984" y="4892040"/>
            <a:ext cx="237744" cy="237744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35608" y="4892040"/>
            <a:ext cx="237744" cy="237744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56232" y="4892040"/>
            <a:ext cx="237744" cy="237744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BÖLMƏ 02 · GOVERNANCE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(Data İdarəetməsi)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627632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Nədir?  </a:t>
            </a:r>
            <a:r>
              <a:rPr lang="en-US" sz="15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Təşkilatda datanın necə toplandığını, saxlandığını, istifadə və qorunduğunu müəyyən edən qaydalar, rollar və proseslər toplusu.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993392" cy="2331720"/>
          </a:xfrm>
          <a:prstGeom prst="roundRect">
            <a:avLst>
              <a:gd name="adj" fmla="val 4128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16152" y="2971800"/>
            <a:ext cx="658368" cy="658368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911" y="3149559"/>
            <a:ext cx="302849" cy="30284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1792" y="376732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Keyfiyyət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58368" y="4114800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dəqiq, tam və etibarlıdır?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770632" y="2743200"/>
            <a:ext cx="1993392" cy="2331720"/>
          </a:xfrm>
          <a:prstGeom prst="roundRect">
            <a:avLst>
              <a:gd name="adj" fmla="val 4128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438144" y="2971800"/>
            <a:ext cx="658368" cy="658368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5903" y="3149559"/>
            <a:ext cx="302849" cy="30284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43784" y="376732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Təhlükəsizlik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2880360" y="4114800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Dataya kim giriş edə bilər?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992624" y="2743200"/>
            <a:ext cx="1993392" cy="2331720"/>
          </a:xfrm>
          <a:prstGeom prst="roundRect">
            <a:avLst>
              <a:gd name="adj" fmla="val 4128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660136" y="2971800"/>
            <a:ext cx="658368" cy="658368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7895" y="3149559"/>
            <a:ext cx="302849" cy="30284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65776" y="376732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Məxfilik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5102352" y="4114800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Şəxsi data qorunurmu?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214616" y="2743200"/>
            <a:ext cx="1993392" cy="2331720"/>
          </a:xfrm>
          <a:prstGeom prst="roundRect">
            <a:avLst>
              <a:gd name="adj" fmla="val 4128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7882128" y="2971800"/>
            <a:ext cx="658368" cy="658368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9887" y="3149559"/>
            <a:ext cx="302849" cy="30284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87768" y="376732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Uyğunluq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7324344" y="4114800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Qanunlara (GDPR) uyğundurmu?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9436608" y="2743200"/>
            <a:ext cx="1993392" cy="2331720"/>
          </a:xfrm>
          <a:prstGeom prst="roundRect">
            <a:avLst>
              <a:gd name="adj" fmla="val 4128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10104120" y="2971800"/>
            <a:ext cx="658368" cy="658368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1879" y="3149559"/>
            <a:ext cx="302849" cy="302849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509760" y="376732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Sahiblik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9546336" y="4114800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Dataya kim cavabdehdir?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548640" y="5349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Niyə vacibdir?  </a:t>
            </a:r>
            <a:r>
              <a:rPr lang="en-US" sz="14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Etibar qazanmaq, qanuni riskdən qorunmaq və daha yaxşı, daha sürətli qərarlar üçün. Governance </a:t>
            </a:r>
            <a:r>
              <a:rPr lang="en-US" sz="1450" dirty="0" err="1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bürokratiya</a:t>
            </a:r>
            <a:r>
              <a:rPr lang="en-US" sz="14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deyil</a:t>
            </a:r>
            <a:r>
              <a:rPr lang="en-US" sz="14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datanı dəyərli aktivə çevirməkdir.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BÖLMƏ 02 · GOVERNANCE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 : Ümumi Data Mühafizəsi Reqlamenti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Avropa İttifaqının data məxfiliyi qanunu, </a:t>
            </a: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2018-ci ildən qüvvədə. </a:t>
            </a:r>
            <a:r>
              <a:rPr lang="en-US" sz="15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vətəndaşlarının datasını emal edən HƏR kəsə </a:t>
            </a:r>
            <a:r>
              <a:rPr lang="en-US" sz="1500" dirty="0" err="1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tətbiq</a:t>
            </a:r>
            <a:r>
              <a:rPr lang="en-US" sz="15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olunur</a:t>
            </a:r>
            <a:r>
              <a:rPr lang="en-US" sz="15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dünyanın harasında olmağından asılı olmayaraq.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İstifadəçinin əsas hüquqları: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3154680"/>
            <a:ext cx="5349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 err="1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</a:t>
            </a: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datama baxa bilərəm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 err="1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Düzəliş</a:t>
            </a: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səhvləri düzəltdirə bilərəm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 err="1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Silinmə</a:t>
            </a: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“unudulmaq hüququ”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 err="1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Daşınma</a:t>
            </a: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datamı köçürə bilərəm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 err="1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Razılıq</a:t>
            </a: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aydın və könüllü olmalıdır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37960" y="1691640"/>
            <a:ext cx="4892040" cy="2331720"/>
          </a:xfrm>
          <a:prstGeom prst="roundRect">
            <a:avLst>
              <a:gd name="adj" fmla="val 3137"/>
            </a:avLst>
          </a:prstGeom>
          <a:solidFill>
            <a:srgbClr val="2021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66560" y="18745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CƏRİMƏ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0" y="21945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mln €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6766560" y="310896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VƏ YA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illik qlobal dövriyyənin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4%-I</a:t>
            </a:r>
            <a:r>
              <a:rPr lang="en-US" sz="1500" b="1" dirty="0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500" dirty="0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hansı böyükdürsə.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37960" y="4206240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66560" y="420624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Azərbaycanda</a:t>
            </a:r>
            <a:r>
              <a:rPr lang="en-US" sz="135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var:  </a:t>
            </a: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“Fərdi məlumatlar haqqında” Qanun şəxsi datanı qoruyur.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BÖLMƏ 02 · MƏXFILIK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Məxfilik (Privacy) vs Təhlükəsizlik (Security)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2606040"/>
          </a:xfrm>
          <a:prstGeom prst="roundRect">
            <a:avLst>
              <a:gd name="adj" fmla="val 3158"/>
            </a:avLst>
          </a:prstGeom>
          <a:solidFill>
            <a:srgbClr val="E6F4E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2" y="2093062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659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Məxfilik (Privacy)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Datanın necə toplanması, kim tərəfindən və hansı məqsədlə istifadə olunması.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56616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Sual:  </a:t>
            </a:r>
            <a:r>
              <a:rPr lang="en-US" sz="1400" i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 data toplanmalıdırmı? İcazə verdimmi?”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72200" y="1691640"/>
            <a:ext cx="5257800" cy="2606040"/>
          </a:xfrm>
          <a:prstGeom prst="roundRect">
            <a:avLst>
              <a:gd name="adj" fmla="val 3158"/>
            </a:avLst>
          </a:prstGeom>
          <a:solidFill>
            <a:srgbClr val="E8F0FE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46520" y="1920240"/>
            <a:ext cx="640080" cy="64008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342" y="2093062"/>
            <a:ext cx="294437" cy="29443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19659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Təhlükəsizlik (Security)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446520" y="278892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Datanı icazəsiz girişdən, oğurluqdan və zədədən qoruyan texniki tədbirlər.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446520" y="356616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Necə:  </a:t>
            </a:r>
            <a:r>
              <a:rPr lang="en-US" sz="1400" i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şifrələmə, parol, 2FA, giriş icazələri.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4526280"/>
            <a:ext cx="10881360" cy="1691640"/>
          </a:xfrm>
          <a:prstGeom prst="roundRect">
            <a:avLst>
              <a:gd name="adj" fmla="val 4324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822960" y="4663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Fərdi data (PII): </a:t>
            </a: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ad, ünvan, telefon, e-poçt, IP ünvanı, </a:t>
            </a:r>
            <a:r>
              <a:rPr lang="en-US" sz="1400" dirty="0" err="1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biometrik</a:t>
            </a: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məlumat</a:t>
            </a: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səni tanıdan hər şey.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822960" y="5257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İstifadəçi kimi özünü qoru:  </a:t>
            </a: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güclü parol işlət · 2 mərhələli doğrulama (2FA) aktiv et · tətbiq icazələrini yoxla · ictimai WiFi-də diqqətli ol.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4864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ipucu:  Google Hesabın → Privacy Checkup və Security Checkup — 5 dəqiqəyə hesabını gözdən keçir.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BÖLMƏ 02 · REAL NÜMUNƏLƏR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Google-da məxfiliyi idarə et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alətlər pulsuzdur və hesabını bu gün idarə etməyə imkan verir: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4672" y="1975104"/>
            <a:ext cx="548640" cy="54864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5" y="2123237"/>
            <a:ext cx="252374" cy="2523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828800"/>
            <a:ext cx="3246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Takeout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919472" y="1993392"/>
            <a:ext cx="0" cy="512064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102352" y="1828800"/>
            <a:ext cx="5989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Bütün öz datanı (Gmail, Foto, Drive) yüklə və ya başqa xidmətə köçür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779776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04672" y="2926080"/>
            <a:ext cx="548640" cy="548640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5" y="3074213"/>
            <a:ext cx="252374" cy="25237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00200" y="2779776"/>
            <a:ext cx="3246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Checkup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4919472" y="2944368"/>
            <a:ext cx="0" cy="512064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102352" y="2779776"/>
            <a:ext cx="5989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Hansı datanın toplandığını gör və məxfilik tənzimləmələrini idarə et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3730752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04672" y="3877056"/>
            <a:ext cx="548640" cy="548640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05" y="4025189"/>
            <a:ext cx="252374" cy="25237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3730752"/>
            <a:ext cx="3246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Checkup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4919472" y="3895344"/>
            <a:ext cx="0" cy="512064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5102352" y="3730752"/>
            <a:ext cx="5989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Təhlükəsizlik zəifliklərini tap, qoşulmuş cihazları yoxla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548640" y="4681728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804672" y="4828032"/>
            <a:ext cx="548640" cy="548640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805" y="4976165"/>
            <a:ext cx="252374" cy="25237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00200" y="4681728"/>
            <a:ext cx="3246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Dashboard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919472" y="4846320"/>
            <a:ext cx="0" cy="512064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5102352" y="4681728"/>
            <a:ext cx="5989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yerdə: hesabınla bağlı bütün Google xidmətləri və data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548640" y="5632704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804672" y="5779008"/>
            <a:ext cx="548640" cy="54864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805" y="5927141"/>
            <a:ext cx="252374" cy="25237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600200" y="5632704"/>
            <a:ext cx="3246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Auto-delete &amp; Incognito</a:t>
            </a:r>
            <a:endParaRPr lang="en-US" sz="1500" dirty="0"/>
          </a:p>
        </p:txBody>
      </p:sp>
      <p:sp>
        <p:nvSpPr>
          <p:cNvPr id="33" name="Shape 26"/>
          <p:cNvSpPr/>
          <p:nvPr/>
        </p:nvSpPr>
        <p:spPr>
          <a:xfrm>
            <a:off x="4919472" y="5797296"/>
            <a:ext cx="0" cy="512064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7"/>
          <p:cNvSpPr/>
          <p:nvPr/>
        </p:nvSpPr>
        <p:spPr>
          <a:xfrm>
            <a:off x="5102352" y="5632704"/>
            <a:ext cx="5989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Tarixçəni avtomatik silinməyə qur; izsiz rejimdə gəz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0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91440"/>
            <a:ext cx="4572000" cy="667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800" b="1" dirty="0">
                <a:solidFill>
                  <a:srgbClr val="2D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800" dirty="0"/>
          </a:p>
        </p:txBody>
      </p:sp>
      <p:sp>
        <p:nvSpPr>
          <p:cNvPr id="3" name="Text 1"/>
          <p:cNvSpPr/>
          <p:nvPr/>
        </p:nvSpPr>
        <p:spPr>
          <a:xfrm>
            <a:off x="59436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ÜÇÜNCÜ BÖLMƏ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94359" y="3886200"/>
            <a:ext cx="779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Datanı harada saxlayır və necə emal edirik? Buludun gücü hamı üçün əlçatandır.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4892040"/>
            <a:ext cx="237744" cy="237744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4984" y="4892040"/>
            <a:ext cx="237744" cy="237744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35608" y="4892040"/>
            <a:ext cx="237744" cy="237744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56232" y="4892040"/>
            <a:ext cx="237744" cy="237744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BÖLMƏ 03 · CLOUD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(Bulud) nədir?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 kompüterin yerinə — internet üzərindən başqasının nəhəng serverlərindən istifadə etmək. </a:t>
            </a:r>
            <a:r>
              <a:rPr lang="en-US" sz="15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Sadəcə: “buludda” işləmək = “internetdə, uzaq serverdə” işləmək deməkdir.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5577840" cy="914400"/>
          </a:xfrm>
          <a:prstGeom prst="roundRect">
            <a:avLst>
              <a:gd name="adj" fmla="val 700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3154680"/>
            <a:ext cx="548640" cy="54864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3302813"/>
            <a:ext cx="252374" cy="2523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30815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IaaS  </a:t>
            </a:r>
            <a:r>
              <a:rPr lang="en-US" sz="14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İnfrastruktur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463040" y="3429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server, yaddaş kirayələ   </a:t>
            </a:r>
            <a:r>
              <a:rPr lang="en-US" sz="1250" i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(Compute Engine)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995928"/>
            <a:ext cx="5577840" cy="914400"/>
          </a:xfrm>
          <a:prstGeom prst="roundRect">
            <a:avLst>
              <a:gd name="adj" fmla="val 700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49808" y="4178808"/>
            <a:ext cx="548640" cy="548640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4326941"/>
            <a:ext cx="252374" cy="25237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41056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0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PaaS  </a:t>
            </a:r>
            <a:r>
              <a:rPr lang="en-US" sz="14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Platforma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463040" y="44531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Tətbiqi qur, server idarəsi Google-da   </a:t>
            </a:r>
            <a:r>
              <a:rPr lang="en-US" sz="1250" i="1" dirty="0">
                <a:solidFill>
                  <a:srgbClr val="B0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 Engine)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5020056"/>
            <a:ext cx="5577840" cy="914400"/>
          </a:xfrm>
          <a:prstGeom prst="roundRect">
            <a:avLst>
              <a:gd name="adj" fmla="val 700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49808" y="5202936"/>
            <a:ext cx="548640" cy="548640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5351069"/>
            <a:ext cx="252374" cy="25237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512978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 </a:t>
            </a:r>
            <a:r>
              <a:rPr lang="en-US" sz="14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Proqram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463040" y="54772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 tətbiqdən istifadə et   </a:t>
            </a:r>
            <a:r>
              <a:rPr lang="en-US" sz="1250" i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(Gmail, Docs)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92240" y="1691640"/>
            <a:ext cx="4937760" cy="4526280"/>
          </a:xfrm>
          <a:prstGeom prst="roundRect">
            <a:avLst>
              <a:gd name="adj" fmla="val 1616"/>
            </a:avLst>
          </a:prstGeom>
          <a:solidFill>
            <a:srgbClr val="E6F4EA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6766560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  Niyə bulud populyardır?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6995160" y="2468880"/>
            <a:ext cx="4206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 err="1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Ödə-istifadə</a:t>
            </a: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et, server almaq yox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Saniyələrdə miqyaslan (böyü/kiçil)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Hər yerdən, hər cihazdan giriş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Avtomatik backup və yenilənmə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Komanda ilə real vaxtda əməkdaşlıq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54864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Misal:  Gmail bir SaaS-</a:t>
            </a:r>
            <a:r>
              <a:rPr lang="en-US" sz="1250" i="1" dirty="0" err="1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dır</a:t>
            </a:r>
            <a:r>
              <a:rPr lang="en-US" sz="1250" i="1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sən sadəcə açırsan, serverləri Google idarə edir.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BÖLMƏ 03 · CLOUD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Buludun üstünlükləri və böyük oyunçular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2148840"/>
          </a:xfrm>
          <a:prstGeom prst="roundRect">
            <a:avLst>
              <a:gd name="adj" fmla="val 383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58468" y="1920240"/>
            <a:ext cx="694944" cy="694944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103" y="2107875"/>
            <a:ext cx="319674" cy="3196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43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Miqyaslanma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8368" y="3108960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Tələbə görə anında böyü və ya kiçil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37560" y="1691640"/>
            <a:ext cx="2514600" cy="2148840"/>
          </a:xfrm>
          <a:prstGeom prst="roundRect">
            <a:avLst>
              <a:gd name="adj" fmla="val 383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247388" y="1920240"/>
            <a:ext cx="694944" cy="694944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5023" y="2107875"/>
            <a:ext cx="319674" cy="3196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2743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Qənaət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47288" y="3108960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alma - yalnız istifadə etdiyini ödə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26480" y="1691640"/>
            <a:ext cx="2514600" cy="2148840"/>
          </a:xfrm>
          <a:prstGeom prst="roundRect">
            <a:avLst>
              <a:gd name="adj" fmla="val 383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036308" y="1920240"/>
            <a:ext cx="694944" cy="694944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943" y="2107875"/>
            <a:ext cx="319674" cy="3196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743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Əlçatanlıq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236208" y="3108960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Dünyanın hər yerindən, hər cihazdan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915400" y="1691640"/>
            <a:ext cx="2514600" cy="2148840"/>
          </a:xfrm>
          <a:prstGeom prst="roundRect">
            <a:avLst>
              <a:gd name="adj" fmla="val 383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825228" y="1920240"/>
            <a:ext cx="694944" cy="694944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2863" y="2107875"/>
            <a:ext cx="319674" cy="31967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06840" y="2743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Etibarlılıq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025128" y="3108960"/>
            <a:ext cx="2295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və 99.9% işləmə zəmanəti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4160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böyük bulud provayderi: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548640" y="4572000"/>
            <a:ext cx="3444240" cy="1600200"/>
          </a:xfrm>
          <a:prstGeom prst="roundRect">
            <a:avLst>
              <a:gd name="adj" fmla="val 5143"/>
            </a:avLst>
          </a:prstGeom>
          <a:solidFill>
            <a:srgbClr val="E8F0FE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731520" y="4800600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731520" y="5303520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(GCP)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4267200" y="4572000"/>
            <a:ext cx="3444240" cy="1600200"/>
          </a:xfrm>
          <a:prstGeom prst="roundRect">
            <a:avLst>
              <a:gd name="adj" fmla="val 5143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4450080" y="4800600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0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</a:t>
            </a:r>
            <a:endParaRPr lang="en-US" sz="2200" dirty="0"/>
          </a:p>
        </p:txBody>
      </p:sp>
      <p:sp>
        <p:nvSpPr>
          <p:cNvPr id="31" name="Text 25"/>
          <p:cNvSpPr/>
          <p:nvPr/>
        </p:nvSpPr>
        <p:spPr>
          <a:xfrm>
            <a:off x="4450080" y="5303520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(AWS)</a:t>
            </a:r>
            <a:endParaRPr lang="en-US" sz="1500" dirty="0"/>
          </a:p>
        </p:txBody>
      </p:sp>
      <p:sp>
        <p:nvSpPr>
          <p:cNvPr id="32" name="Shape 26"/>
          <p:cNvSpPr/>
          <p:nvPr/>
        </p:nvSpPr>
        <p:spPr>
          <a:xfrm>
            <a:off x="7985760" y="4572000"/>
            <a:ext cx="3444240" cy="1600200"/>
          </a:xfrm>
          <a:prstGeom prst="roundRect">
            <a:avLst>
              <a:gd name="adj" fmla="val 5143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8168640" y="4800600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</a:t>
            </a:r>
            <a:endParaRPr lang="en-US" sz="2200" dirty="0"/>
          </a:p>
        </p:txBody>
      </p:sp>
      <p:sp>
        <p:nvSpPr>
          <p:cNvPr id="34" name="Text 28"/>
          <p:cNvSpPr/>
          <p:nvPr/>
        </p:nvSpPr>
        <p:spPr>
          <a:xfrm>
            <a:off x="8168640" y="5303520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(Azure)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BÖLMƏ 03 · CLOUD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Cloud-da data: saxlama və işlənmə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Datanın xam haldan dəyərə qədər </a:t>
            </a:r>
            <a:r>
              <a:rPr lang="en-US" sz="1350" i="1" dirty="0" err="1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yolu</a:t>
            </a:r>
            <a:r>
              <a:rPr lang="en-US" sz="13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data pipeline: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993392" cy="2468880"/>
          </a:xfrm>
          <a:prstGeom prst="roundRect">
            <a:avLst>
              <a:gd name="adj" fmla="val 4128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2084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79576" y="2468880"/>
            <a:ext cx="731520" cy="73152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086" y="2666390"/>
            <a:ext cx="336499" cy="33649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31012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8368" y="365760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Mənbələrdən data axını</a:t>
            </a:r>
            <a:endParaRPr lang="en-US" sz="11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7460" y="2971800"/>
            <a:ext cx="237744" cy="2377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70632" y="1965960"/>
            <a:ext cx="1993392" cy="2468880"/>
          </a:xfrm>
          <a:prstGeom prst="roundRect">
            <a:avLst>
              <a:gd name="adj" fmla="val 4128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2907792" y="2084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3401568" y="2468880"/>
            <a:ext cx="731520" cy="731520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9078" y="2666390"/>
            <a:ext cx="336499" cy="33649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862072" y="331012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Saxla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2880360" y="365760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Storage, bazalar</a:t>
            </a:r>
            <a:endParaRPr lang="en-US" sz="11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9452" y="2971800"/>
            <a:ext cx="237744" cy="23774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992624" y="1965960"/>
            <a:ext cx="1993392" cy="2468880"/>
          </a:xfrm>
          <a:prstGeom prst="roundRect">
            <a:avLst>
              <a:gd name="adj" fmla="val 4128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5129784" y="2084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0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5623560" y="2468880"/>
            <a:ext cx="731520" cy="731520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1070" y="2666390"/>
            <a:ext cx="336499" cy="33649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084064" y="331012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İşlə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5102352" y="365760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Təmizlə, çevir, birləşdir</a:t>
            </a:r>
            <a:endParaRPr lang="en-US" sz="115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1444" y="2971800"/>
            <a:ext cx="237744" cy="237744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7214616" y="1965960"/>
            <a:ext cx="1993392" cy="2468880"/>
          </a:xfrm>
          <a:prstGeom prst="roundRect">
            <a:avLst>
              <a:gd name="adj" fmla="val 4128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19"/>
          <p:cNvSpPr/>
          <p:nvPr/>
        </p:nvSpPr>
        <p:spPr>
          <a:xfrm>
            <a:off x="7351776" y="2084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Shape 20"/>
          <p:cNvSpPr/>
          <p:nvPr/>
        </p:nvSpPr>
        <p:spPr>
          <a:xfrm>
            <a:off x="7845552" y="2468880"/>
            <a:ext cx="731520" cy="731520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3062" y="2666390"/>
            <a:ext cx="336499" cy="336499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306056" y="331012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 et</a:t>
            </a:r>
            <a:endParaRPr lang="en-US" sz="1500" dirty="0"/>
          </a:p>
        </p:txBody>
      </p:sp>
      <p:sp>
        <p:nvSpPr>
          <p:cNvPr id="31" name="Text 22"/>
          <p:cNvSpPr/>
          <p:nvPr/>
        </p:nvSpPr>
        <p:spPr>
          <a:xfrm>
            <a:off x="7324344" y="365760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anbarı: BigQuery</a:t>
            </a:r>
            <a:endParaRPr lang="en-US" sz="115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3436" y="2971800"/>
            <a:ext cx="237744" cy="237744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9436608" y="1965960"/>
            <a:ext cx="1993392" cy="2468880"/>
          </a:xfrm>
          <a:prstGeom prst="roundRect">
            <a:avLst>
              <a:gd name="adj" fmla="val 4128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24"/>
          <p:cNvSpPr/>
          <p:nvPr/>
        </p:nvSpPr>
        <p:spPr>
          <a:xfrm>
            <a:off x="9573768" y="2084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Shape 25"/>
          <p:cNvSpPr/>
          <p:nvPr/>
        </p:nvSpPr>
        <p:spPr>
          <a:xfrm>
            <a:off x="10067544" y="2468880"/>
            <a:ext cx="731520" cy="731520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65054" y="2666390"/>
            <a:ext cx="336499" cy="336499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9528048" y="331012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Vizuallaşdır</a:t>
            </a:r>
            <a:endParaRPr lang="en-US" sz="1500" dirty="0"/>
          </a:p>
        </p:txBody>
      </p:sp>
      <p:sp>
        <p:nvSpPr>
          <p:cNvPr id="38" name="Text 27"/>
          <p:cNvSpPr/>
          <p:nvPr/>
        </p:nvSpPr>
        <p:spPr>
          <a:xfrm>
            <a:off x="9546336" y="365760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 Studio dashboard</a:t>
            </a:r>
            <a:endParaRPr lang="en-US" sz="1150" dirty="0"/>
          </a:p>
        </p:txBody>
      </p:sp>
      <p:sp>
        <p:nvSpPr>
          <p:cNvPr id="39" name="Shape 28"/>
          <p:cNvSpPr/>
          <p:nvPr/>
        </p:nvSpPr>
        <p:spPr>
          <a:xfrm>
            <a:off x="548640" y="4754880"/>
            <a:ext cx="10881360" cy="1508760"/>
          </a:xfrm>
          <a:prstGeom prst="roundRect">
            <a:avLst>
              <a:gd name="adj" fmla="val 5455"/>
            </a:avLst>
          </a:prstGeom>
          <a:solidFill>
            <a:srgbClr val="202124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29"/>
          <p:cNvSpPr/>
          <p:nvPr/>
        </p:nvSpPr>
        <p:spPr>
          <a:xfrm>
            <a:off x="822960" y="5120640"/>
            <a:ext cx="640080" cy="640080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5782" y="5293462"/>
            <a:ext cx="294437" cy="294437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645920" y="4983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B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Niyə bulud burada qaçılmazdır?</a:t>
            </a:r>
            <a:endParaRPr lang="en-US" sz="1600" dirty="0"/>
          </a:p>
        </p:txBody>
      </p:sp>
      <p:sp>
        <p:nvSpPr>
          <p:cNvPr id="43" name="Text 31"/>
          <p:cNvSpPr/>
          <p:nvPr/>
        </p:nvSpPr>
        <p:spPr>
          <a:xfrm>
            <a:off x="1645920" y="53492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>
                <a:solidFill>
                  <a:schemeClr val="bg1"/>
                </a:solidFill>
              </a:rPr>
              <a:t>Çünki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datanı</a:t>
            </a:r>
            <a:r>
              <a:rPr lang="en-US" sz="1600" dirty="0">
                <a:solidFill>
                  <a:schemeClr val="bg1"/>
                </a:solidFill>
              </a:rPr>
              <a:t> real </a:t>
            </a:r>
            <a:r>
              <a:rPr lang="en-US" sz="1600" dirty="0" err="1">
                <a:solidFill>
                  <a:schemeClr val="bg1"/>
                </a:solidFill>
              </a:rPr>
              <a:t>vaxtda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və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ya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toplu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şəkildə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b="1" dirty="0" err="1">
                <a:solidFill>
                  <a:schemeClr val="bg1"/>
                </a:solidFill>
              </a:rPr>
              <a:t>milyardlarla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sətri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saniyələr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içində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emal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edə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bilir</a:t>
            </a:r>
            <a:r>
              <a:rPr lang="en-US" sz="1600" dirty="0">
                <a:solidFill>
                  <a:schemeClr val="bg1"/>
                </a:solidFill>
              </a:rPr>
              <a:t>. </a:t>
            </a:r>
            <a:r>
              <a:rPr lang="en-US" sz="1600" dirty="0" err="1">
                <a:solidFill>
                  <a:schemeClr val="bg1"/>
                </a:solidFill>
              </a:rPr>
              <a:t>Məsələn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b="1" dirty="0" err="1">
                <a:solidFill>
                  <a:schemeClr val="bg1"/>
                </a:solidFill>
              </a:rPr>
              <a:t>BigQuery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serversizdir</a:t>
            </a:r>
            <a:r>
              <a:rPr lang="en-US" sz="1600" dirty="0">
                <a:solidFill>
                  <a:schemeClr val="bg1"/>
                </a:solidFill>
              </a:rPr>
              <a:t>: </a:t>
            </a:r>
            <a:r>
              <a:rPr lang="en-US" sz="1600" dirty="0" err="1">
                <a:solidFill>
                  <a:schemeClr val="bg1"/>
                </a:solidFill>
              </a:rPr>
              <a:t>siz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heç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bir</a:t>
            </a:r>
            <a:r>
              <a:rPr lang="en-US" sz="1600" dirty="0">
                <a:solidFill>
                  <a:schemeClr val="bg1"/>
                </a:solidFill>
              </a:rPr>
              <a:t> server </a:t>
            </a:r>
            <a:r>
              <a:rPr lang="en-US" sz="1600" dirty="0" err="1">
                <a:solidFill>
                  <a:schemeClr val="bg1"/>
                </a:solidFill>
              </a:rPr>
              <a:t>qurmadan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sadəcə</a:t>
            </a:r>
            <a:r>
              <a:rPr lang="en-US" sz="1600" dirty="0">
                <a:solidFill>
                  <a:schemeClr val="bg1"/>
                </a:solidFill>
              </a:rPr>
              <a:t> SQL </a:t>
            </a:r>
            <a:r>
              <a:rPr lang="en-US" sz="1600" dirty="0" err="1">
                <a:solidFill>
                  <a:schemeClr val="bg1"/>
                </a:solidFill>
              </a:rPr>
              <a:t>yazıb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nəhəng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datanı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analiz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edirsiniz</a:t>
            </a:r>
            <a:r>
              <a:rPr lang="en-US" sz="1600" dirty="0">
                <a:solidFill>
                  <a:schemeClr val="bg1"/>
                </a:solidFill>
              </a:rPr>
              <a:t>.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BÖLMƏ 03 · REAL NÜMUNƏLƏR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data alətləri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" y="1691640"/>
            <a:ext cx="548640" cy="54864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5" y="183977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002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BigQuery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919472" y="1764792"/>
            <a:ext cx="0" cy="402336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102352" y="1600200"/>
            <a:ext cx="5989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Serversiz data </a:t>
            </a:r>
            <a:r>
              <a:rPr lang="en-US" sz="1300" dirty="0" err="1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anbarı</a:t>
            </a: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SQL ilə milyardlarla sətri saniyələrdə analiz et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441448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04672" y="2532888"/>
            <a:ext cx="548640" cy="548640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5" y="2681021"/>
            <a:ext cx="252374" cy="25237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2441448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Storage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919472" y="2606040"/>
            <a:ext cx="0" cy="402336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102352" y="2441448"/>
            <a:ext cx="5989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 və obyektləri buludda təhlükəsiz, miqyaslanan şəkildə saxla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3282696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04672" y="3374136"/>
            <a:ext cx="548640" cy="548640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05" y="3522269"/>
            <a:ext cx="252374" cy="25237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3282696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Looker Studio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4919472" y="3447288"/>
            <a:ext cx="0" cy="402336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5102352" y="3282696"/>
            <a:ext cx="5989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Pulsuz interaktiv dashboard və hesabatlar (köhnə adı: Data Studio)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4123944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804672" y="4215384"/>
            <a:ext cx="548640" cy="548640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805" y="4363517"/>
            <a:ext cx="252374" cy="25237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00200" y="4123944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Dataflow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4919472" y="4288536"/>
            <a:ext cx="0" cy="402336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5102352" y="4123944"/>
            <a:ext cx="5989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Böyük data axınlarını real vaxtda və toplu şəkildə emal et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548640" y="4965192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804672" y="5056632"/>
            <a:ext cx="548640" cy="54864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805" y="5204765"/>
            <a:ext cx="252374" cy="25237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600200" y="4965192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</a:t>
            </a:r>
            <a:endParaRPr lang="en-US" sz="1500" dirty="0"/>
          </a:p>
        </p:txBody>
      </p:sp>
      <p:sp>
        <p:nvSpPr>
          <p:cNvPr id="32" name="Shape 25"/>
          <p:cNvSpPr/>
          <p:nvPr/>
        </p:nvSpPr>
        <p:spPr>
          <a:xfrm>
            <a:off x="4919472" y="5129784"/>
            <a:ext cx="0" cy="402336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6"/>
          <p:cNvSpPr/>
          <p:nvPr/>
        </p:nvSpPr>
        <p:spPr>
          <a:xfrm>
            <a:off x="5102352" y="4965192"/>
            <a:ext cx="5989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Maşın öyrənməsi modellərini qur, öyrət və istehsalata çıxar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548640" y="5806440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804672" y="5897880"/>
            <a:ext cx="548640" cy="548640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805" y="6046013"/>
            <a:ext cx="252374" cy="25237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600200" y="58064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</a:t>
            </a:r>
            <a:endParaRPr lang="en-US" sz="1500" dirty="0"/>
          </a:p>
        </p:txBody>
      </p:sp>
      <p:sp>
        <p:nvSpPr>
          <p:cNvPr id="38" name="Shape 30"/>
          <p:cNvSpPr/>
          <p:nvPr/>
        </p:nvSpPr>
        <p:spPr>
          <a:xfrm>
            <a:off x="4919472" y="5971032"/>
            <a:ext cx="0" cy="402336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1"/>
          <p:cNvSpPr/>
          <p:nvPr/>
        </p:nvSpPr>
        <p:spPr>
          <a:xfrm>
            <a:off x="5102352" y="5806440"/>
            <a:ext cx="5989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Brauzerdə pulsuz Python notebook, bulud GPU dəstəyi ilə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BB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DÖRDÜNCÜ MÖVZU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Storytelling : datadan hekayə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İnsanlar quru rəqəmləri yox, HEKAYƏLƏRİ xatırlayır. Yaxşı qrafik 1000 sətir cədvəldən güclüdür.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48640" cy="54864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257129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</a:t>
            </a:r>
            <a:r>
              <a:rPr lang="en-US" sz="145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4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Etibarlı, təmiz rəqəmlər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3081528"/>
            <a:ext cx="548640" cy="548640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3" y="3229661"/>
            <a:ext cx="252374" cy="25237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31272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 err="1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Vizual</a:t>
            </a:r>
            <a:r>
              <a:rPr lang="en-US" sz="14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5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4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Doğru qrafik növü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548640" y="3739896"/>
            <a:ext cx="548640" cy="548640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773" y="3888029"/>
            <a:ext cx="252374" cy="25237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378561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 err="1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Nağıl</a:t>
            </a:r>
            <a:r>
              <a:rPr lang="en-US" sz="14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5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4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Kontekst və əsas mesaj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502920" y="4475988"/>
            <a:ext cx="5486400" cy="1737360"/>
          </a:xfrm>
          <a:prstGeom prst="roundRect">
            <a:avLst>
              <a:gd name="adj" fmla="val 3684"/>
            </a:avLst>
          </a:prstGeom>
          <a:solidFill>
            <a:srgbClr val="FEF7E0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777240" y="46451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Qızıl qaydalar: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777240" y="498348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Müqayisə → </a:t>
            </a:r>
            <a:r>
              <a:rPr lang="en-US" dirty="0" err="1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sütun</a:t>
            </a:r>
            <a:r>
              <a:rPr lang="en-US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→ </a:t>
            </a:r>
            <a:r>
              <a:rPr lang="en-US" dirty="0" err="1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xətt</a:t>
            </a:r>
            <a:r>
              <a:rPr lang="en-US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dirty="0" err="1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hissə</a:t>
            </a:r>
            <a:r>
              <a:rPr lang="en-US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pie</a:t>
            </a:r>
          </a:p>
        </p:txBody>
      </p:sp>
      <p:sp>
        <p:nvSpPr>
          <p:cNvPr id="17" name="Text 12"/>
          <p:cNvSpPr/>
          <p:nvPr/>
        </p:nvSpPr>
        <p:spPr>
          <a:xfrm>
            <a:off x="6400800" y="16276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Nümunə: bir mesajlı </a:t>
            </a:r>
            <a:r>
              <a:rPr lang="en-US" sz="1400" b="1" dirty="0" err="1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qrafik</a:t>
            </a:r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: “data partlayışı”</a:t>
            </a:r>
            <a:endParaRPr lang="en-US" sz="14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6355080" y="2057400"/>
          <a:ext cx="52578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9" name="Text 13"/>
          <p:cNvSpPr/>
          <p:nvPr/>
        </p:nvSpPr>
        <p:spPr>
          <a:xfrm>
            <a:off x="6355080" y="548640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Dünya üzrə yaranan illik data həcmi (zettabayt) · 2026 proqnoz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54864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0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ipucu:  Looker Studio (pulsuz) ilə interaktiv dashboard qur; Google Sheets-də sürətli qrafiklər çək.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0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91440"/>
            <a:ext cx="4572000" cy="667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800" b="1" dirty="0">
                <a:solidFill>
                  <a:srgbClr val="2D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800" dirty="0"/>
          </a:p>
        </p:txBody>
      </p:sp>
      <p:sp>
        <p:nvSpPr>
          <p:cNvPr id="3" name="Text 1"/>
          <p:cNvSpPr/>
          <p:nvPr/>
        </p:nvSpPr>
        <p:spPr>
          <a:xfrm>
            <a:off x="59436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BEŞINCI BÖLMƏ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Süni İntellekt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94359" y="3886200"/>
            <a:ext cx="8970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Cloud-un üstündə qurulan zirvə: AI. İndi onu anlayaq və məsuliyyətlə işlədək.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4892040"/>
            <a:ext cx="237744" cy="237744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4984" y="4892040"/>
            <a:ext cx="237744" cy="237744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35608" y="4892040"/>
            <a:ext cx="237744" cy="237744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56232" y="4892040"/>
            <a:ext cx="237744" cy="237744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BÖLMƏ 04 ·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Machine Learning · Deep Learning · GenAI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92608" cy="292608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72821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: Süni İntellekt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08483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Maşınların “ağıllı” davranışı. Ən geniş anlayış.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292608" cy="292608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268833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: Maşın Öyrənməsi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04495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Qaydalar yazmadan, datadan özü öyrənən alqoritmlər.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292608" cy="292608"/>
          </a:xfrm>
          <a:prstGeom prst="ellipse">
            <a:avLst/>
          </a:prstGeom>
          <a:solidFill>
            <a:srgbClr val="B06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364845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 : </a:t>
            </a:r>
            <a:r>
              <a:rPr lang="en-US" sz="1600" b="1" dirty="0" err="1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Dərin</a:t>
            </a:r>
            <a:r>
              <a:rPr lang="en-US" sz="1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Öyrənmə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400507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Çoxqatlı neyron şəbəkələri: şəkil, səs, dil.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709160"/>
            <a:ext cx="292608" cy="292608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460857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496519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məzmun yaradır: mətn, şəkil, kod, video.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97880" y="1691640"/>
            <a:ext cx="6035040" cy="4297680"/>
          </a:xfrm>
          <a:prstGeom prst="ellipse">
            <a:avLst/>
          </a:prstGeom>
          <a:solidFill>
            <a:srgbClr val="E8F0FE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629400" y="2217420"/>
            <a:ext cx="4572000" cy="3246120"/>
          </a:xfrm>
          <a:prstGeom prst="ellipse">
            <a:avLst/>
          </a:prstGeom>
          <a:solidFill>
            <a:srgbClr val="E6F4EA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38060" y="2720340"/>
            <a:ext cx="3154680" cy="2240280"/>
          </a:xfrm>
          <a:prstGeom prst="ellipse">
            <a:avLst/>
          </a:prstGeom>
          <a:solidFill>
            <a:srgbClr val="FEF7E0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023860" y="3223260"/>
            <a:ext cx="1783080" cy="1234440"/>
          </a:xfrm>
          <a:prstGeom prst="ellipse">
            <a:avLst/>
          </a:prstGeom>
          <a:solidFill>
            <a:srgbClr val="FCE8E6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00100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0100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0100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0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01000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52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BÖLMƏ 04 ·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: maşın necə öyrənir?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Klassik proqramlaşdırmada </a:t>
            </a: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qaydaları biz yazırıq.</a:t>
            </a:r>
            <a:r>
              <a:rPr lang="en-US" sz="15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Machine Learning-də isə model </a:t>
            </a:r>
            <a:r>
              <a:rPr lang="en-US" sz="15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datadan nümunələrlə qaydaları özü tapır.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2240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(nümunələr)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2468880"/>
            <a:ext cx="256032" cy="2560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83280" y="22402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429000" y="2240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Xüsusiyyətlər (features)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468880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17920" y="22402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263640" y="2240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öyrədilir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468880"/>
            <a:ext cx="256032" cy="25603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052560" y="22402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4285F4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9098280" y="2240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Proqnoz / qərar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3200400"/>
            <a:ext cx="3383280" cy="2514600"/>
          </a:xfrm>
          <a:prstGeom prst="roundRect">
            <a:avLst>
              <a:gd name="adj" fmla="val 3273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804672" y="3429000"/>
            <a:ext cx="603504" cy="603504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618" y="3591946"/>
            <a:ext cx="277612" cy="2776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7240" y="4114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Nəzarətli (Supervised)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777240" y="4617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Etiketli data </a:t>
            </a:r>
            <a:r>
              <a:rPr lang="en-US" sz="1150" dirty="0" err="1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ilə</a:t>
            </a: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öyrənir</a:t>
            </a: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“cavablar” verilir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777240" y="51389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Nümunə: </a:t>
            </a: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Klassifikasiya (spam?) · Reqressiya (qiymət)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4297680" y="3200400"/>
            <a:ext cx="3383280" cy="2514600"/>
          </a:xfrm>
          <a:prstGeom prst="roundRect">
            <a:avLst>
              <a:gd name="adj" fmla="val 3273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4553712" y="3429000"/>
            <a:ext cx="603504" cy="603504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658" y="3591946"/>
            <a:ext cx="277612" cy="27761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526280" y="4114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Nəzarətsiz (Unsupervised)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4526280" y="4617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Etiketsiz datada gizli nümunələri tapır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4526280" y="51389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Nümunə: </a:t>
            </a: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Klasterləşmə · ölçü azaltma · anomaliya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8046720" y="3200400"/>
            <a:ext cx="3383280" cy="2514600"/>
          </a:xfrm>
          <a:prstGeom prst="roundRect">
            <a:avLst>
              <a:gd name="adj" fmla="val 3273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8302752" y="3429000"/>
            <a:ext cx="603504" cy="603504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5698" y="3591946"/>
            <a:ext cx="277612" cy="27761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275320" y="4114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Gücləndirici (Reinforcement)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8275320" y="4617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Sınaq-səhv və mükafatla öyrənir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8275320" y="51389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0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Nümunə: </a:t>
            </a: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Oyunlar · robotlar · tövsiyə sistemləri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BÖLMƏ 04 ·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&amp; Neyron Şəbəkələri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5532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</a:t>
            </a:r>
            <a:r>
              <a:rPr lang="en-US" sz="145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50" dirty="0" err="1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insan</a:t>
            </a:r>
            <a:r>
              <a:rPr lang="en-US" sz="14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beynindəki neyronlardan ilhamlanan, </a:t>
            </a:r>
            <a:r>
              <a:rPr lang="en-US" sz="14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çoxqatlı neyron şəbəkələridir.</a:t>
            </a:r>
            <a:r>
              <a:rPr lang="en-US" sz="14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“Dərin” = çox sayda gizli qat deməkdir.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578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Necə işləyir?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2944368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qatı datanı qəbul edir (şəkil, mətn, səs)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 qatlar çəkilərlə (weights) məlumatı emal edir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Çıxış qatı nəticəni verir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Səhv geri yayılır (backpropagation) </a:t>
            </a:r>
            <a:r>
              <a:rPr lang="en-US" sz="1300" dirty="0" err="1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şəbəkə</a:t>
            </a:r>
            <a:r>
              <a:rPr lang="en-US" sz="130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öyrənir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98348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E8F0FE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498348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Niyə bu qədər güclüdür?  </a:t>
            </a:r>
            <a:r>
              <a:rPr lang="en-US" sz="13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Xüsusiyyətləri ÖZÜ tapir, biz əl ilə göstərmirik. Məhz buna görə şəkil, səs və dili anlaya bilir.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16276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Sadə neyron şəbəkəsi: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 flipV="1">
            <a:off x="7406640" y="2304288"/>
            <a:ext cx="1691640" cy="283464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06640" y="2587752"/>
            <a:ext cx="1691640" cy="283464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06640" y="2587752"/>
            <a:ext cx="1691640" cy="850392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06640" y="2587752"/>
            <a:ext cx="1691640" cy="141732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 flipV="1">
            <a:off x="7406640" y="2304288"/>
            <a:ext cx="1691640" cy="850392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 flipV="1">
            <a:off x="7406640" y="2871216"/>
            <a:ext cx="1691640" cy="283464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406640" y="3154680"/>
            <a:ext cx="1691640" cy="283464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06640" y="3154680"/>
            <a:ext cx="1691640" cy="850392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 flipV="1">
            <a:off x="7406640" y="2304288"/>
            <a:ext cx="1691640" cy="141732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 flipV="1">
            <a:off x="7406640" y="2871216"/>
            <a:ext cx="1691640" cy="850392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 flipV="1">
            <a:off x="7406640" y="3438144"/>
            <a:ext cx="1691640" cy="283464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406640" y="3721608"/>
            <a:ext cx="1691640" cy="283464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098280" y="2304288"/>
            <a:ext cx="1691640" cy="566928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098280" y="2304288"/>
            <a:ext cx="1691640" cy="1133856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 flipV="1">
            <a:off x="9098280" y="2871216"/>
            <a:ext cx="1691640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098280" y="2871216"/>
            <a:ext cx="1691640" cy="566928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 flipV="1">
            <a:off x="9098280" y="2871216"/>
            <a:ext cx="1691640" cy="566928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 flipV="1">
            <a:off x="9098280" y="3438144"/>
            <a:ext cx="1691640" cy="0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 flipV="1">
            <a:off x="9098280" y="2871216"/>
            <a:ext cx="1691640" cy="1133856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 flipV="1">
            <a:off x="9098280" y="3438144"/>
            <a:ext cx="1691640" cy="566928"/>
          </a:xfrm>
          <a:prstGeom prst="line">
            <a:avLst/>
          </a:prstGeom>
          <a:noFill/>
          <a:ln w="952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242048" y="2423160"/>
            <a:ext cx="329184" cy="329184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242048" y="2990088"/>
            <a:ext cx="329184" cy="329184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242048" y="3557016"/>
            <a:ext cx="329184" cy="329184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933688" y="2139696"/>
            <a:ext cx="329184" cy="329184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933688" y="2706624"/>
            <a:ext cx="329184" cy="329184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933688" y="3273552"/>
            <a:ext cx="329184" cy="329184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933688" y="3840480"/>
            <a:ext cx="329184" cy="329184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0625328" y="2706624"/>
            <a:ext cx="329184" cy="329184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0625328" y="3273552"/>
            <a:ext cx="329184" cy="329184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83680" y="4572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275320" y="4572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 qatlar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966960" y="4572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Çıxış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92240" y="498348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720840" y="5074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Əsas arxitekturalar: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720840" y="541324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</a:t>
            </a: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şəkillər və görüntü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/ Transformer </a:t>
            </a:r>
            <a:r>
              <a:rPr lang="en-US" sz="12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dil, mətn və ardıcıllıq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BÖLMƏ 04 ·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(Generativ Süni İntellekt)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5532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Mövcud nəhəng datadan öyrənib </a:t>
            </a:r>
            <a:r>
              <a:rPr lang="en-US" sz="1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YENİ məzmun yaradır</a:t>
            </a:r>
            <a:r>
              <a:rPr lang="en-US" sz="16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mətn, şəkil, kod, səs, video.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5532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 err="1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Əsasında</a:t>
            </a:r>
            <a:r>
              <a:rPr lang="en-US" sz="14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(Böyük Dil Modelləri): </a:t>
            </a:r>
            <a:r>
              <a:rPr lang="en-US" sz="14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milyardlarla mətn üzərində öyrədilir və sadəcə “növbəti sözü” proqnozlaşdıraraq cümlə qurur.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Nə üçün istifadə edə bilərsən: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Mətn yaz, ümumiləşdir, tərcümə et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yaz və səhvləri tap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Beyin fırtınası və ideya yarat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Mürəkkəb mövzunu sadə dildə izah et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92240" y="1691640"/>
            <a:ext cx="4937760" cy="2331720"/>
          </a:xfrm>
          <a:prstGeom prst="roundRect">
            <a:avLst>
              <a:gd name="adj" fmla="val 2745"/>
            </a:avLst>
          </a:prstGeom>
          <a:solidFill>
            <a:srgbClr val="FCE8E6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766560" y="1965960"/>
            <a:ext cx="640080" cy="640080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382" y="2138782"/>
            <a:ext cx="294437" cy="29443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54380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52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Diqqət: Hallüsinasiya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766560" y="278892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inamla SƏHV cavab </a:t>
            </a:r>
            <a:r>
              <a:rPr lang="en-US" sz="1400" dirty="0" err="1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uydura</a:t>
            </a: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bilər</a:t>
            </a: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çünki o “bilmir”, ehtimalla söz seçir.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766560" y="34747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Qayda:  vacib məlumatı həmişə yoxla. AI köməkçidir, son söz deyil.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92240" y="4206240"/>
            <a:ext cx="4937760" cy="1828800"/>
          </a:xfrm>
          <a:prstGeom prst="roundRect">
            <a:avLst>
              <a:gd name="adj" fmla="val 3500"/>
            </a:avLst>
          </a:prstGeom>
          <a:solidFill>
            <a:srgbClr val="E8F0FE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766560" y="4343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nümunələri: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766560" y="470916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</a:t>
            </a:r>
            <a:r>
              <a:rPr lang="en-US" sz="13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söhbət, kod, analiz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 err="1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</a:t>
            </a: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öz sənədlərindən köməkçi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/ Veo </a:t>
            </a:r>
            <a:r>
              <a:rPr lang="en-US" sz="13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şəkil / video yaradır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BÖLMƏ 04 ·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LLM-lər necə işləyir?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AI-ın arxasındakı “mühərrik” : Böyük Dil Modelləri (LLM). Gəlin içini açaq: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4672" y="2112264"/>
            <a:ext cx="548640" cy="54864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5" y="2260397"/>
            <a:ext cx="252374" cy="2523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Tokenlər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508760" y="245973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Mətn </a:t>
            </a:r>
            <a:r>
              <a:rPr lang="en-US" sz="1150" dirty="0" err="1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kiçik</a:t>
            </a: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parçalara</a:t>
            </a: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150" dirty="0" err="1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tokenlərə</a:t>
            </a: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150" dirty="0" err="1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bölünür</a:t>
            </a: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Model sözlərlə yox, tokenlərlə “düşünür”.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72200" y="187452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28232" y="2112264"/>
            <a:ext cx="548640" cy="548640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6365" y="2260397"/>
            <a:ext cx="252374" cy="25237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&amp; Attention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7132320" y="245973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hər tokenin digərləri ilə </a:t>
            </a:r>
            <a:r>
              <a:rPr lang="en-US" sz="1150" dirty="0" err="1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əlaqəsini</a:t>
            </a: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ölçür</a:t>
            </a: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kontekstdə hansının vacib olduğunu “diqqətlə” seçir.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3447288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04672" y="3685032"/>
            <a:ext cx="548640" cy="548640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05" y="3833165"/>
            <a:ext cx="252374" cy="25237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6301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Növbəti tokeni proqnoz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508760" y="403250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sadəcə “növbəti tokeni” ehtimalla </a:t>
            </a:r>
            <a:r>
              <a:rPr lang="en-US" sz="1150" dirty="0" err="1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təxmin</a:t>
            </a: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edir</a:t>
            </a: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bunu təkrarlayaraq cümlə qurur.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172200" y="3447288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428232" y="3685032"/>
            <a:ext cx="548640" cy="548640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6365" y="3833165"/>
            <a:ext cx="252374" cy="25237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32320" y="36301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Kontekst pəncərəsi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132320" y="403250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eyni anda yalnız müəyyən sayda token “yadda saxlaya” </a:t>
            </a:r>
            <a:r>
              <a:rPr lang="en-US" sz="1150" dirty="0" err="1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bilər</a:t>
            </a:r>
            <a:r>
              <a:rPr lang="en-US" sz="11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buna kontekst pəncərəsi deyilir.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48640" y="5074920"/>
            <a:ext cx="10881360" cy="1143000"/>
          </a:xfrm>
          <a:prstGeom prst="roundRect">
            <a:avLst>
              <a:gd name="adj" fmla="val 7200"/>
            </a:avLst>
          </a:prstGeom>
          <a:solidFill>
            <a:srgbClr val="202124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822960" y="5166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BB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Necə öyrədilir? — 3 mərhələ: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822960" y="55321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Pretraining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internetdəki nəhəng mətndə öyrənir.    </a:t>
            </a:r>
            <a:r>
              <a:rPr lang="en-US" sz="125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Fine-tuning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konkret tapşırıqlara köklənir.    </a:t>
            </a:r>
            <a:r>
              <a:rPr lang="en-US" sz="125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RLHF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insan rəyi ilə daha faydalı və təhlükəsiz olur.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BÖLMƏ 04 ·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: düzgün soruşmaq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AI-dan yaxşı nəticə almaq = ona yaxşı təlimat (prompt) yazmaq. Resept: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015338" cy="1554480"/>
          </a:xfrm>
          <a:prstGeom prst="roundRect">
            <a:avLst>
              <a:gd name="adj" fmla="val 5294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54557" y="1993392"/>
            <a:ext cx="603504" cy="603504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503" y="2156338"/>
            <a:ext cx="277612" cy="2776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2670048"/>
            <a:ext cx="18690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962656"/>
            <a:ext cx="1832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“Sən bioloqsan...”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65146" y="1828800"/>
            <a:ext cx="2015338" cy="1554480"/>
          </a:xfrm>
          <a:prstGeom prst="roundRect">
            <a:avLst>
              <a:gd name="adj" fmla="val 5294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71062" y="1993392"/>
            <a:ext cx="603504" cy="603504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4008" y="2156338"/>
            <a:ext cx="277612" cy="2776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38298" y="2670048"/>
            <a:ext cx="18690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Tapşırıq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856586" y="2962656"/>
            <a:ext cx="1832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Nə istəyirsən — aydın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981651" y="1828800"/>
            <a:ext cx="2015338" cy="1554480"/>
          </a:xfrm>
          <a:prstGeom prst="roundRect">
            <a:avLst>
              <a:gd name="adj" fmla="val 5294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687568" y="1993392"/>
            <a:ext cx="603504" cy="603504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0514" y="2156338"/>
            <a:ext cx="277612" cy="2776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54803" y="2670048"/>
            <a:ext cx="18690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Kontekst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073091" y="2962656"/>
            <a:ext cx="1832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Lazımi məlumatı ver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198157" y="1828800"/>
            <a:ext cx="2015338" cy="1554480"/>
          </a:xfrm>
          <a:prstGeom prst="roundRect">
            <a:avLst>
              <a:gd name="adj" fmla="val 5294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7904074" y="1993392"/>
            <a:ext cx="603504" cy="603504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7020" y="2156338"/>
            <a:ext cx="277612" cy="2776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71309" y="2670048"/>
            <a:ext cx="18690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289597" y="2962656"/>
            <a:ext cx="1832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Siyahı? Cədvəl? Ton?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9414662" y="1828800"/>
            <a:ext cx="2015338" cy="1554480"/>
          </a:xfrm>
          <a:prstGeom prst="roundRect">
            <a:avLst>
              <a:gd name="adj" fmla="val 5294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10120579" y="1993392"/>
            <a:ext cx="603504" cy="603504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3525" y="2156338"/>
            <a:ext cx="277612" cy="2776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487814" y="2670048"/>
            <a:ext cx="18690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Nümunə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9506102" y="2962656"/>
            <a:ext cx="1832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örnək göstər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548640" y="3657600"/>
            <a:ext cx="5257800" cy="2148840"/>
          </a:xfrm>
          <a:prstGeom prst="roundRect">
            <a:avLst>
              <a:gd name="adj" fmla="val 2979"/>
            </a:avLst>
          </a:prstGeom>
          <a:solidFill>
            <a:srgbClr val="FCE8E6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777240" y="37947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52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Zəif prompt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777240" y="42976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“Esse yaz.”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777240" y="498348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Nəticə: ümumi, məqsədsiz, sənə uyğun olmayan mətn.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6172200" y="3657600"/>
            <a:ext cx="5257800" cy="2148840"/>
          </a:xfrm>
          <a:prstGeom prst="roundRect">
            <a:avLst>
              <a:gd name="adj" fmla="val 2979"/>
            </a:avLst>
          </a:prstGeom>
          <a:solidFill>
            <a:srgbClr val="E6F4EA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6400800" y="37947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Yaxşı prompt</a:t>
            </a:r>
            <a:endParaRPr lang="en-US" sz="1600" dirty="0"/>
          </a:p>
        </p:txBody>
      </p:sp>
      <p:sp>
        <p:nvSpPr>
          <p:cNvPr id="36" name="Text 29"/>
          <p:cNvSpPr/>
          <p:nvPr/>
        </p:nvSpPr>
        <p:spPr>
          <a:xfrm>
            <a:off x="6400800" y="42519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“Sən tarix müəlliminsən. Lisey şagirdləri üçün Səfəvilər dövləti haqqında sadə dildə, 3 abzaslıq, ~200 sözlük esse yaz.”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6400800" y="5303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Nəticə: dəqiq, hədəfli, istifadəyə hazır.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548640" y="59436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Qabaqcıl üsullar:  </a:t>
            </a: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(nümunəsiz) · Few-shot (bir-neçə nümunə ilə) · Chain-of-Thought (“addım-addım düşün”).  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BÖLMƏ 04 ·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Agentlər (AI Agents)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1417320"/>
          </a:xfrm>
          <a:prstGeom prst="roundRect">
            <a:avLst>
              <a:gd name="adj" fmla="val 4516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Fərq nədir?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Chatbot:  </a:t>
            </a: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sual verirsən → cavab verir (söz).</a:t>
            </a:r>
            <a:endParaRPr lang="en-US" sz="14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 </a:t>
            </a: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məqsəd verirsən → HƏRƏKƏT edir (iş).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Komponentləri: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3872484"/>
            <a:ext cx="210312" cy="2103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70432" y="3767328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Beyin (LLM) : qərar verir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4334256"/>
            <a:ext cx="457200" cy="457200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4457700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70432" y="435254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Yaddaş</a:t>
            </a: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kontekst saxlayır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919472"/>
            <a:ext cx="457200" cy="457200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" y="5042916"/>
            <a:ext cx="210312" cy="2103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70432" y="4937760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Alətlər</a:t>
            </a: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axtarış, kod, API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5504688"/>
            <a:ext cx="457200" cy="457200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" y="5628132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70432" y="5522976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Planlama</a:t>
            </a: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addımlara bölür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492240" y="1691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necə işləyir: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766560" y="2148840"/>
            <a:ext cx="4389120" cy="658368"/>
          </a:xfrm>
          <a:prstGeom prst="roundRect">
            <a:avLst>
              <a:gd name="adj" fmla="val 13889"/>
            </a:avLst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6949440" y="214884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Məqsəd verirsən</a:t>
            </a:r>
            <a:endParaRPr lang="en-US" sz="15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0" y="2825496"/>
            <a:ext cx="274320" cy="25603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766560" y="3099816"/>
            <a:ext cx="4389120" cy="658368"/>
          </a:xfrm>
          <a:prstGeom prst="roundRect">
            <a:avLst>
              <a:gd name="adj" fmla="val 13889"/>
            </a:avLst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/>
          <p:nvPr/>
        </p:nvSpPr>
        <p:spPr>
          <a:xfrm>
            <a:off x="6949440" y="309981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Plan qurur</a:t>
            </a:r>
            <a:endParaRPr lang="en-US" sz="15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0" y="3776472"/>
            <a:ext cx="274320" cy="256032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6766560" y="4050792"/>
            <a:ext cx="4389120" cy="658368"/>
          </a:xfrm>
          <a:prstGeom prst="roundRect">
            <a:avLst>
              <a:gd name="adj" fmla="val 13889"/>
            </a:avLst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0"/>
          <p:cNvSpPr/>
          <p:nvPr/>
        </p:nvSpPr>
        <p:spPr>
          <a:xfrm>
            <a:off x="6949440" y="405079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Alətlərdən istifadə edir</a:t>
            </a:r>
            <a:endParaRPr lang="en-US" sz="15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0" y="4727448"/>
            <a:ext cx="274320" cy="256032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6766560" y="5001768"/>
            <a:ext cx="4389120" cy="658368"/>
          </a:xfrm>
          <a:prstGeom prst="roundRect">
            <a:avLst>
              <a:gd name="adj" fmla="val 13889"/>
            </a:avLst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2"/>
          <p:cNvSpPr/>
          <p:nvPr/>
        </p:nvSpPr>
        <p:spPr>
          <a:xfrm>
            <a:off x="6949440" y="500176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Tapşırığı icra edir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BÖLMƏ 04 · REAL NÜMUNƏLƏR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AI ekosistemi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38021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" y="1691640"/>
            <a:ext cx="548640" cy="54864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5" y="183977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002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919472" y="1764792"/>
            <a:ext cx="0" cy="402336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102352" y="1600200"/>
            <a:ext cx="5989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Google-un ən qabaqcıl AI modeli: söhbət, kod, şəkil və sənəd analizi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441448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04672" y="2532888"/>
            <a:ext cx="548640" cy="548640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05" y="2681021"/>
            <a:ext cx="252374" cy="25237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2441448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AI Studio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919472" y="2606040"/>
            <a:ext cx="0" cy="402336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102352" y="2441448"/>
            <a:ext cx="5989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Pulsuz prompt sınağı və API </a:t>
            </a:r>
            <a:r>
              <a:rPr lang="en-US" sz="1300" dirty="0" err="1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açarı</a:t>
            </a: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aistudio.google.com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3282696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04672" y="3374136"/>
            <a:ext cx="548640" cy="548640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05" y="3522269"/>
            <a:ext cx="252374" cy="25237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3282696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NotebookLM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4919472" y="3447288"/>
            <a:ext cx="0" cy="402336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5102352" y="3282696"/>
            <a:ext cx="5989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 sənədlərindən şəxsi, mənbəyə əsaslanan AI köməkçi yarat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4123944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804672" y="4215384"/>
            <a:ext cx="548640" cy="548640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805" y="4363517"/>
            <a:ext cx="252374" cy="25237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00200" y="4123944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4919472" y="4288536"/>
            <a:ext cx="0" cy="402336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5102352" y="4123944"/>
            <a:ext cx="5989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tətbiqləri və agentlər qurma platforması (peşəkar səviyyə)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548640" y="4965192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804672" y="5056632"/>
            <a:ext cx="548640" cy="54864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805" y="5204765"/>
            <a:ext cx="252374" cy="25237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600200" y="4965192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in Workspace</a:t>
            </a:r>
            <a:endParaRPr lang="en-US" sz="1500" dirty="0"/>
          </a:p>
        </p:txBody>
      </p:sp>
      <p:sp>
        <p:nvSpPr>
          <p:cNvPr id="32" name="Shape 25"/>
          <p:cNvSpPr/>
          <p:nvPr/>
        </p:nvSpPr>
        <p:spPr>
          <a:xfrm>
            <a:off x="4919472" y="5129784"/>
            <a:ext cx="0" cy="402336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6"/>
          <p:cNvSpPr/>
          <p:nvPr/>
        </p:nvSpPr>
        <p:spPr>
          <a:xfrm>
            <a:off x="5102352" y="4965192"/>
            <a:ext cx="5989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Gmail, Docs, Sheets, Slides-də birbaşa AI köməyi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548640" y="5806440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804672" y="5897880"/>
            <a:ext cx="548640" cy="548640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805" y="6046013"/>
            <a:ext cx="252374" cy="25237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600200" y="58064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</a:t>
            </a:r>
            <a:endParaRPr lang="en-US" sz="1500" dirty="0"/>
          </a:p>
        </p:txBody>
      </p:sp>
      <p:sp>
        <p:nvSpPr>
          <p:cNvPr id="38" name="Shape 30"/>
          <p:cNvSpPr/>
          <p:nvPr/>
        </p:nvSpPr>
        <p:spPr>
          <a:xfrm>
            <a:off x="4919472" y="5971032"/>
            <a:ext cx="0" cy="402336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1"/>
          <p:cNvSpPr/>
          <p:nvPr/>
        </p:nvSpPr>
        <p:spPr>
          <a:xfrm>
            <a:off x="5102352" y="5806440"/>
            <a:ext cx="5989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kodu üçün pulsuz brauzer notebook + bulud GPU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548640" y="6500901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Əlavə:  Imagen (şəkil) · Veo (video) · Cloud Skills Boost (pulsuz təlim).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ELMDƏ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r>
              <a:rPr lang="en-US" sz="2900" b="1" dirty="0" err="1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elmi</a:t>
            </a:r>
            <a:r>
              <a:rPr lang="en-US" sz="29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900" b="1" dirty="0" err="1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dəyişir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EF7E0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847088"/>
            <a:ext cx="640080" cy="640080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2" y="2019910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20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B0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· KİMYA NOBEL MÜKAFATI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tarixdə ilk dəfə Nobel qazandı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22960" y="331012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</a:t>
            </a: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Google DeepMind (Hassabis &amp; Jumper)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416052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E8F0FE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22960" y="4407408"/>
            <a:ext cx="566928" cy="566928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031" y="4560479"/>
            <a:ext cx="260787" cy="2607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72768" y="44622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Təməldə dərin öyrənmə var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22960" y="50292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Fizika Nobeli də neyron şəbəkələrin təməlinə görə verildi — Hopfield &amp; Hinton. AI artıq elmin mərkəzindədir.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92240" y="1627632"/>
            <a:ext cx="4937760" cy="4270248"/>
          </a:xfrm>
          <a:prstGeom prst="roundRect">
            <a:avLst>
              <a:gd name="adj" fmla="val 1713"/>
            </a:avLst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720840" y="1783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🧬  AlphaFold nə etdi?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903720" y="2212848"/>
            <a:ext cx="4343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Proteinin 3D strukturunu amin turşusu ardıcıllığından proqnozlaşdırır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milyon protein </a:t>
            </a:r>
            <a:r>
              <a:rPr lang="en-US" sz="1250" dirty="0" err="1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strukturu</a:t>
            </a: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demək olar bütün məlum proteinlər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Hamısı açıq və pulsuz bazada (AlphaFold DB)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720840" y="3886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Niyə bu, hər şeyi dəyişir?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903720" y="4251960"/>
            <a:ext cx="4343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Dərman kəşfini illərdən aylara sürətləndirir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Xərçəng və Alzheimer kimi xəstəliklərin araşdırması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vaksin və zülal dizaynı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BƏLƏDÇI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baxışda: Google alətləri “cheat sheet”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257800" cy="2240280"/>
          </a:xfrm>
          <a:prstGeom prst="roundRect">
            <a:avLst>
              <a:gd name="adj" fmla="val 3265"/>
            </a:avLst>
          </a:prstGeom>
          <a:solidFill>
            <a:srgbClr val="E8F0FE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4672" y="2112264"/>
            <a:ext cx="566928" cy="566928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743" y="2265335"/>
            <a:ext cx="260787" cy="2607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130552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83464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: başlanğıc analiz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 err="1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nəhəng data anbarı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: fayl saxlama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 Studio : vizuallaşdırma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874520"/>
            <a:ext cx="5257800" cy="2240280"/>
          </a:xfrm>
          <a:prstGeom prst="roundRect">
            <a:avLst>
              <a:gd name="adj" fmla="val 3265"/>
            </a:avLst>
          </a:prstGeom>
          <a:solidFill>
            <a:srgbClr val="FCE8E6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28232" y="2112264"/>
            <a:ext cx="566928" cy="566928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303" y="2265335"/>
            <a:ext cx="260787" cy="2607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2130552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52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MƏXFİLİK &amp; GOVERNANCE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37960" y="283464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Takeout : datanı ixrac et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Checkup : məxfilik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Checkup : təhlükəsizlik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Dashboard : icmal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43400"/>
            <a:ext cx="5257800" cy="2240280"/>
          </a:xfrm>
          <a:prstGeom prst="roundRect">
            <a:avLst>
              <a:gd name="adj" fmla="val 3265"/>
            </a:avLst>
          </a:prstGeom>
          <a:solidFill>
            <a:srgbClr val="E6F4EA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04672" y="4581144"/>
            <a:ext cx="566928" cy="566928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743" y="4734215"/>
            <a:ext cx="260787" cy="2607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4599432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8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914400" y="530352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(GCP) : platforma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 err="1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</a:t>
            </a: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pulsuz notebook + GPU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 : data emalı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: ML platforması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72200" y="4343400"/>
            <a:ext cx="5257800" cy="2240280"/>
          </a:xfrm>
          <a:prstGeom prst="roundRect">
            <a:avLst>
              <a:gd name="adj" fmla="val 3265"/>
            </a:avLst>
          </a:prstGeom>
          <a:solidFill>
            <a:srgbClr val="FEF7E0"/>
          </a:solidFill>
          <a:ln w="12700">
            <a:solidFill>
              <a:srgbClr val="E8EAED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428232" y="4581144"/>
            <a:ext cx="566928" cy="566928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303" y="4734215"/>
            <a:ext cx="260787" cy="26078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32320" y="4599432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0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SÜNİ İNTELLEKT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537960" y="530352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: qabaqcıl AI modeli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Studio : prompt + API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 err="1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</a:t>
            </a: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sənəddən köməkçi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&amp; Veo : şəkil / video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NƏTICƏLƏR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Yadda saxlamalı 6 əsas fikir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58368" cy="658368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17647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hər şeyin əsasıdır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417320" y="216712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Onu oxumağı </a:t>
            </a:r>
            <a:r>
              <a:rPr lang="en-US" sz="1300" dirty="0" err="1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öyrən</a:t>
            </a: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data literacy yeni savadlılıqdır.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658368" cy="658368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0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086600" y="17647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Zibil giriş = zibil çıxış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086600" y="216712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Ən güclü AI belə pis data üzərində pis nəticə verir.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658368" cy="658368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246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17320" y="32278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Məxfilik məsuliyyətdir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417320" y="363016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GDPR-i bil, 2FA işlət, datanı şüurlu paylaş.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246120"/>
            <a:ext cx="658368" cy="658368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3246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086600" y="32278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gücü demokratikləşdirir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086600" y="363016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almadan nəhəng datanı saxla və emal et.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658368" cy="658368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47091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417320" y="46908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Rəqəm yox, məna sat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417320" y="509320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Datadan aydın mesajlı hekayə qur.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4709160"/>
            <a:ext cx="658368" cy="658368"/>
          </a:xfrm>
          <a:prstGeom prst="ellipse">
            <a:avLst/>
          </a:prstGeom>
          <a:solidFill>
            <a:srgbClr val="C522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17920" y="47091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086600" y="46908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alətdir, son söz deyil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7086600" y="509320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Yaxşı prompt yaz, nəticəni mütləq yoxla.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1143000"/>
            <a:ext cx="1188720" cy="118872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354" y="1463954"/>
            <a:ext cx="546811" cy="5468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5146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Sual–Cavab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0" y="35204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İstənilən mövzu açıqdır: Data · Cloud · AI · Google alətləri · karyera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929488" y="425196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66648" y="42519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“AI işimi əvəz edəcək?”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495648" y="425196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FCE8E6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632808" y="42519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“Haradan başlayım?”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061808" y="4251960"/>
            <a:ext cx="3200400" cy="91440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 w="12700">
            <a:solidFill>
              <a:srgbClr val="E8E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198968" y="42519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188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“Necə pulsuz öyrənim?”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0" y="55778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 </a:t>
            </a:r>
            <a:r>
              <a:rPr lang="en-US" sz="1600" b="1" dirty="0" err="1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sual</a:t>
            </a:r>
            <a:r>
              <a:rPr lang="en-US" sz="1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yoxdur</a:t>
            </a:r>
            <a:r>
              <a:rPr lang="en-US" sz="1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soruşmaqdan çəkinmə! 🙌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0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Təşəkkür edirəm! 🙏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548640" y="2414016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Öyrənməyə bu </a:t>
            </a:r>
            <a:r>
              <a:rPr lang="en-US" sz="1700" dirty="0" err="1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</a:t>
            </a:r>
            <a:r>
              <a:rPr lang="en-US" sz="1700" dirty="0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</a:t>
            </a:r>
            <a:r>
              <a:rPr lang="en-US" sz="1700" dirty="0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 slayt sənin bələdçindir.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B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Əlaqə &amp; suallar: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4558284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445312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 https://www.linkedin.com/in/lala-ibadullayeva/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5029200"/>
            <a:ext cx="457200" cy="457200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5152644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70432" y="504748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poçt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lala.ibadullayeva@gmail.com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5852160"/>
            <a:ext cx="256032" cy="256032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969264" y="5852160"/>
            <a:ext cx="256032" cy="256032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1389888" y="5852160"/>
            <a:ext cx="256032" cy="256032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1810512" y="5852160"/>
            <a:ext cx="256032" cy="256032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675120" y="822960"/>
            <a:ext cx="4937760" cy="5212080"/>
          </a:xfrm>
          <a:prstGeom prst="roundRect">
            <a:avLst>
              <a:gd name="adj" fmla="val 1481"/>
            </a:avLst>
          </a:prstGeom>
          <a:solidFill>
            <a:srgbClr val="2D2F33"/>
          </a:solidFill>
          <a:ln w="12700">
            <a:solidFill>
              <a:srgbClr val="3C40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949440" y="10515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 Pulsuz öyrənmə resursları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6967728" y="1700784"/>
            <a:ext cx="237744" cy="237744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333488" y="159105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Skills Boost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7333488" y="19019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Pulsuz bulud təlimləri və laboratoriyalar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967728" y="2432304"/>
            <a:ext cx="237744" cy="237744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7333488" y="232257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AI Studio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7333488" y="263347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aistudio.google.com : prompt sınağı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6967728" y="3163824"/>
            <a:ext cx="237744" cy="237744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7333488" y="305409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Colab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7333488" y="336499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colab.research.google.com : Python notebook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6967728" y="3895344"/>
            <a:ext cx="237744" cy="237744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7333488" y="378561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7333488" y="409651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kaggle.com : datasets və yarışmalar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6967728" y="4626864"/>
            <a:ext cx="237744" cy="237744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7333488" y="451713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developers.google.com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7333488" y="482803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Rəsmi sənədlər və təlimatlar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6967728" y="5358384"/>
            <a:ext cx="237744" cy="237744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7333488" y="524865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NotebookLM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7333488" y="55595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notebooklm.google</a:t>
            </a:r>
            <a:r>
              <a:rPr lang="en-US" sz="1150" dirty="0">
                <a:solidFill>
                  <a:srgbClr val="BDC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öyrənmə köməkçisi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2909</Words>
  <Application>Microsoft Office PowerPoint</Application>
  <PresentationFormat>Widescreen</PresentationFormat>
  <Paragraphs>509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AI, Data &amp; Cloud — Maarifləndirici Təlim</dc:title>
  <dc:subject>PptxGenJS Presentation</dc:subject>
  <dc:creator>Lalə</dc:creator>
  <cp:lastModifiedBy>user</cp:lastModifiedBy>
  <cp:revision>7</cp:revision>
  <dcterms:created xsi:type="dcterms:W3CDTF">2026-06-20T17:59:02Z</dcterms:created>
  <dcterms:modified xsi:type="dcterms:W3CDTF">2026-06-23T12:07:30Z</dcterms:modified>
</cp:coreProperties>
</file>