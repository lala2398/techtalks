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4049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7680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GEOMETRY</a:t>
            </a:r>
            <a:endParaRPr lang="en-US" sz="40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4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MOLECULES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6974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statistics reveals the language of structures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31520" y="3429000"/>
            <a:ext cx="2194560" cy="4114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370332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Lala Ibadullayeva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Structural Biologist  |  PhD Candidate  |  ML &amp; Bioinformatics Research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Science Forum 2026  ·  Khazar University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path did not start in technology or STEM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2194560"/>
            <a:ext cx="67665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13816" y="2093976"/>
            <a:ext cx="201168" cy="20116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7160" y="1554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" y="24231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BSU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/ Anthropology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05456" y="2093976"/>
            <a:ext cx="201168" cy="20116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0" y="1554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2019–21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0" y="24231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Anthropology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98 / 100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97096" y="2093976"/>
            <a:ext cx="201168" cy="20116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20440" y="1554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24231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23 — decision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switch fields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88736" y="2093976"/>
            <a:ext cx="201168" cy="20116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212080" y="1554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12080" y="24231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Biology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entry score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580376" y="2093976"/>
            <a:ext cx="201168" cy="20116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03720" y="1554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2022→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03720" y="24231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Bioinformatics,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biostatistics, coding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2062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@ BSU   ·   PhD candidate @ Computational Structural Biology   ·   Visiting Researcher, MRC LMB Cambridge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conformation of small rings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theme:  statistical learning  +  conformational analysis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— model the 3D behaviour of small-ring systems and build better geometric priors for protein–ligand structures.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0F2438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68880" y="23774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· PDB · CCD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0F2438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68880" y="315468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R · ML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0F2438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39319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68880" y="393192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RDKit · MDAnalysis · Gemmi · PyMOL · Coot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66560" y="18288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1C7293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6766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molecules arrange</a:t>
            </a:r>
            <a:endParaRPr lang="en-US" sz="3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random - or do they</a:t>
            </a:r>
            <a:endParaRPr lang="en-US" sz="3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obey rules?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talk we expose the hidden order inside hundreds of real molecules — using statistics, live.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proline? The one ring in every protein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40233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standard amino acid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whose side chain bonds back to its own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nitrogen - forming a rigid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5-membered pyrrolidine ring.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loop locks the backbone and makes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proline a structural </a:t>
            </a:r>
            <a:r>
              <a:rPr lang="en-US" sz="150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"turn-inducer"</a:t>
            </a: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it dictates where chains bend.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937760" y="1417320"/>
            <a:ext cx="3566160" cy="2834640"/>
          </a:xfrm>
          <a:prstGeom prst="roundRect">
            <a:avLst>
              <a:gd name="adj" fmla="val 3226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0" y="192024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A16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— Cα — Cβ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0A16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             |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0A16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Cδ ——— Cγ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937760" y="3794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pyrrolidine ring of proline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small ring is not flat — it puckers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234440"/>
            <a:ext cx="749808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416052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Proline settles into two envelope shapes - </a:t>
            </a:r>
            <a:r>
              <a:rPr lang="en-US" sz="14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Cγ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-endo and </a:t>
            </a:r>
            <a:r>
              <a:rPr lang="en-US" sz="14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Cγ-exo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named by whether the γ-carbon points toward or away from the backbone carbonyl.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ring shape matter?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3840480" cy="1508760"/>
          </a:xfrm>
          <a:prstGeom prst="roundRect">
            <a:avLst>
              <a:gd name="adj" fmla="val 6061"/>
            </a:avLst>
          </a:prstGeom>
          <a:solidFill>
            <a:srgbClr val="0F2438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44475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🧬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508760" y="1463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EA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Collagen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93852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Cγ-exo hydroxyproline is essential to the collagen triple helix — the most abundant protein in your body.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9160" y="1280160"/>
            <a:ext cx="3840480" cy="1508760"/>
          </a:xfrm>
          <a:prstGeom prst="roundRect">
            <a:avLst>
              <a:gd name="adj" fmla="val 6061"/>
            </a:avLst>
          </a:prstGeom>
          <a:solidFill>
            <a:srgbClr val="0F2438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92040" y="144475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577840" y="1463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stability &amp; design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93852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pucker biases the backbone; fluoroprolines exploit this to stabilise proteins (e.g. ubiquitin) by pre-organisation.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971800"/>
            <a:ext cx="3840480" cy="1508760"/>
          </a:xfrm>
          <a:prstGeom prst="roundRect">
            <a:avLst>
              <a:gd name="adj" fmla="val 6061"/>
            </a:avLst>
          </a:prstGeom>
          <a:solidFill>
            <a:srgbClr val="0F2438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13639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💊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508760" y="3154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discovery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363016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Pyrrolidine is a versatile scaffold — pseudorotation offers favourable 3D shapes for exploring pharmacophore space.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09160" y="2971800"/>
            <a:ext cx="3840480" cy="1508760"/>
          </a:xfrm>
          <a:prstGeom prst="roundRect">
            <a:avLst>
              <a:gd name="adj" fmla="val 6061"/>
            </a:avLst>
          </a:prstGeom>
          <a:solidFill>
            <a:srgbClr val="0F2438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92040" y="313639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📐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577840" y="3154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priors (my PhD work)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37760" y="363016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statistical distribution of ring geometry becomes a prior for structure validation and modelling.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shape into a number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138988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389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four consecutive ring atoms → measure the torsion angle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213969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1396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212140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all five endocyclic torsions:  ν₀ … ν₄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288950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28895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871216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them into one pseudorotation phase P + amplitude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363931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3639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3621024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Altona–Sundaralingam (1972) : pure geometry, no AI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14400" y="4526280"/>
            <a:ext cx="7498080" cy="502920"/>
          </a:xfrm>
          <a:prstGeom prst="roundRect">
            <a:avLst>
              <a:gd name="adj" fmla="val 18182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97280" y="45262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P answers "which pucker" · amplitude answers "how puckered"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data: Protein Data Bank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2468880" cy="2011680"/>
          </a:xfrm>
          <a:prstGeom prst="roundRect">
            <a:avLst>
              <a:gd name="adj" fmla="val 6818"/>
            </a:avLst>
          </a:prstGeom>
          <a:solidFill>
            <a:srgbClr val="0F2438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230 000+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27432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structures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1554480"/>
            <a:ext cx="2468880" cy="2011680"/>
          </a:xfrm>
          <a:prstGeom prst="roundRect">
            <a:avLst>
              <a:gd name="adj" fmla="val 6818"/>
            </a:avLst>
          </a:prstGeom>
          <a:solidFill>
            <a:srgbClr val="0F2438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383280" y="17830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520440" y="27432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everyone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554480"/>
            <a:ext cx="2468880" cy="2011680"/>
          </a:xfrm>
          <a:prstGeom prst="roundRect">
            <a:avLst>
              <a:gd name="adj" fmla="val 6818"/>
            </a:avLst>
          </a:prstGeom>
          <a:solidFill>
            <a:srgbClr val="0F2438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26480" y="17830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263640" y="27432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labs worldwide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97764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in Baku has the same access as a professor at Harvard.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open-source tool:  gemmimol-notebook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8138160" cy="2286000"/>
          </a:xfrm>
          <a:prstGeom prst="roundRect">
            <a:avLst>
              <a:gd name="adj" fmla="val 4800"/>
            </a:avLst>
          </a:prstGeom>
          <a:solidFill>
            <a:srgbClr val="0F2438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7589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macromolecular structure and electron-density viewer for Jupyter and Google Colab, powered by GemmiMol.</a:t>
            </a:r>
            <a:endParaRPr lang="en-US" sz="160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any PDB, COD, or CCD entry — or a local file — in a 3D viewer that shows the model together with its electron-density map, right inside a notebook cell.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downloads, no Coot, no setup beyond a single import. Released under the MIT license on GitHub.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88620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github.com/Lala2398/gemmimol-notebook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— all open-source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7772400" cy="621792"/>
          </a:xfrm>
          <a:prstGeom prst="roundRect">
            <a:avLst>
              <a:gd name="adj" fmla="val 10294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80" y="1325880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194560" y="132588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structures from the PDB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0" y="132588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Gemmi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075688"/>
            <a:ext cx="7772400" cy="621792"/>
          </a:xfrm>
          <a:prstGeom prst="roundRect">
            <a:avLst>
              <a:gd name="adj" fmla="val 10294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075688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94560" y="2075688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every proline ring automatically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0" y="207568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Gemmi / RDKit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825496"/>
            <a:ext cx="7772400" cy="621792"/>
          </a:xfrm>
          <a:prstGeom prst="roundRect">
            <a:avLst>
              <a:gd name="adj" fmla="val 10294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825496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94560" y="2825496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torsions → phase P + amplitude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0" y="2825496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575304"/>
            <a:ext cx="7772400" cy="621792"/>
          </a:xfrm>
          <a:prstGeom prst="roundRect">
            <a:avLst>
              <a:gd name="adj" fmla="val 10294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3575304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94560" y="3575304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Distribution, clusters, anomalies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0" y="3575304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 · seaborn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526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sources:  PDB  ·  COD (Crystallography Open Database)  ·  CCD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: what we'll do now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7772400" cy="475488"/>
          </a:xfrm>
          <a:prstGeom prst="roundRect">
            <a:avLst>
              <a:gd name="adj" fmla="val 11538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23444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several real protein structures from the PDB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01368"/>
            <a:ext cx="77724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801368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801368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every proline ring in each 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368296"/>
            <a:ext cx="7772400" cy="475488"/>
          </a:xfrm>
          <a:prstGeom prst="roundRect">
            <a:avLst>
              <a:gd name="adj" fmla="val 11538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36829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368296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five torsion angles per ring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935224"/>
            <a:ext cx="77724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2935224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935224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each to one pseudorotation phase (P)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502152"/>
            <a:ext cx="7772400" cy="475488"/>
          </a:xfrm>
          <a:prstGeom prst="roundRect">
            <a:avLst>
              <a:gd name="adj" fmla="val 11538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350215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502152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the distribution across hundreds of rings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4069080"/>
            <a:ext cx="77724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960" y="406908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406908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anomalies with a statistical z-score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709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Gemmi · NumPy · Matplotlib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1 — the distribution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6172200" y="1051560"/>
            <a:ext cx="2423160" cy="3017520"/>
          </a:xfrm>
          <a:prstGeom prst="roundRect">
            <a:avLst>
              <a:gd name="adj" fmla="val 3774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355080" y="1234440"/>
            <a:ext cx="21031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3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independent rings collapse onto two preferred conformations.</a:t>
            </a:r>
            <a:endParaRPr lang="en-US" sz="1300" dirty="0"/>
          </a:p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plot it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discover the preferred states directly from data - no assumptions. This bimodality IS the statistical law.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4206240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46% Cγ-exo · 46% Cγ-endo · 8% intermediate</a:t>
            </a:r>
            <a:endParaRPr lang="en-US" sz="12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C7EE3C-7A0A-96ED-5263-07A21AB369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2" r="780" b="1745"/>
          <a:stretch>
            <a:fillRect/>
          </a:stretch>
        </p:blipFill>
        <p:spPr>
          <a:xfrm>
            <a:off x="255792" y="1051560"/>
            <a:ext cx="5779248" cy="307208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2 — the conformational landscape</a:t>
            </a:r>
            <a:endParaRPr lang="en-US" sz="2500" dirty="0"/>
          </a:p>
        </p:txBody>
      </p:sp>
      <p:sp>
        <p:nvSpPr>
          <p:cNvPr id="4" name="Shape 1"/>
          <p:cNvSpPr/>
          <p:nvPr/>
        </p:nvSpPr>
        <p:spPr>
          <a:xfrm>
            <a:off x="6172200" y="1051560"/>
            <a:ext cx="2423160" cy="3017520"/>
          </a:xfrm>
          <a:prstGeom prst="roundRect">
            <a:avLst>
              <a:gd name="adj" fmla="val 3774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355080" y="1234440"/>
            <a:ext cx="21031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axes</a:t>
            </a:r>
            <a:endParaRPr lang="en-US" sz="13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= which pucker. Amplitude = how puckered.</a:t>
            </a:r>
            <a:endParaRPr lang="en-US" sz="1300" dirty="0"/>
          </a:p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plot it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clusters are the normal states; scattered points are anomaly candidates. The 2D view separates shape from degree.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4206240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point is one real proline ring from a real structure.</a:t>
            </a:r>
            <a:endParaRPr lang="en-US" sz="12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F9D87C-6DF2-5317-1517-99D1691290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0" t="870"/>
          <a:stretch>
            <a:fillRect/>
          </a:stretch>
        </p:blipFill>
        <p:spPr>
          <a:xfrm>
            <a:off x="502919" y="1085057"/>
            <a:ext cx="5584129" cy="287499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3 — hunting anomalies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6172200" y="1051560"/>
            <a:ext cx="2423160" cy="3017520"/>
          </a:xfrm>
          <a:prstGeom prst="roundRect">
            <a:avLst>
              <a:gd name="adj" fmla="val 3774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355080" y="1234440"/>
            <a:ext cx="21031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3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flags rings far from the mean - e.g. 4HHB:58, a ring with an impossibly high amplitude (a disordered ring).</a:t>
            </a:r>
            <a:endParaRPr lang="en-US" sz="1300" dirty="0"/>
          </a:p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statistics defines "normal," deviation becomes a measurable signal - the basis of validation.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4206240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scientific question begins here:  biological strain · crystal artefact · refinement error?</a:t>
            </a:r>
            <a:endParaRPr lang="en-US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82F3E0-89E1-DF89-0D88-09539D5D11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14" t="956" r="802" b="-1"/>
          <a:stretch>
            <a:fillRect/>
          </a:stretch>
        </p:blipFill>
        <p:spPr>
          <a:xfrm>
            <a:off x="365760" y="989911"/>
            <a:ext cx="557784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you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2468880" cy="2194560"/>
          </a:xfrm>
          <a:prstGeom prst="roundRect">
            <a:avLst>
              <a:gd name="adj" fmla="val 6250"/>
            </a:avLst>
          </a:prstGeom>
          <a:solidFill>
            <a:srgbClr val="0F2438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PDB, COD, CCD — all free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383280" y="1508760"/>
            <a:ext cx="2468880" cy="2194560"/>
          </a:xfrm>
          <a:prstGeom prst="roundRect">
            <a:avLst>
              <a:gd name="adj" fmla="val 6250"/>
            </a:avLst>
          </a:prstGeom>
          <a:solidFill>
            <a:srgbClr val="0F2438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383280" y="17830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3566160" y="26974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Gemmi, NumPy — all free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508760"/>
            <a:ext cx="2468880" cy="2194560"/>
          </a:xfrm>
          <a:prstGeom prst="roundRect">
            <a:avLst>
              <a:gd name="adj" fmla="val 6250"/>
            </a:avLst>
          </a:prstGeom>
          <a:solidFill>
            <a:srgbClr val="0F2438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26480" y="17830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6309360" y="26974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thing you truly need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406908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discoveries happen where fields meet — statistics is the language we all share.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7724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data.</a:t>
            </a:r>
            <a:endParaRPr lang="en-US" sz="4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tools.</a:t>
            </a:r>
            <a:endParaRPr lang="en-US" sz="4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does the rest.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4069080"/>
            <a:ext cx="2194560" cy="4114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42976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Lala Ibadullayeva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github.com/Lala2398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48006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lang="en-US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0E65A6-1038-867E-0021-8E43FB2C40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10" t="20521" r="5713" b="2076"/>
          <a:stretch>
            <a:fillRect/>
          </a:stretch>
        </p:blipFill>
        <p:spPr>
          <a:xfrm>
            <a:off x="6864530" y="2975396"/>
            <a:ext cx="2103121" cy="19852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946</Words>
  <Application>Microsoft Office PowerPoint</Application>
  <PresentationFormat>On-screen Show (16:9)</PresentationFormat>
  <Paragraphs>165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Hidden Geometry of Molecules</dc:title>
  <dc:subject>PptxGenJS Presentation</dc:subject>
  <dc:creator>Lala Ibadullayeva</dc:creator>
  <cp:lastModifiedBy>user</cp:lastModifiedBy>
  <cp:revision>7</cp:revision>
  <dcterms:created xsi:type="dcterms:W3CDTF">2026-06-18T09:40:04Z</dcterms:created>
  <dcterms:modified xsi:type="dcterms:W3CDTF">2026-06-23T09:51:04Z</dcterms:modified>
</cp:coreProperties>
</file>