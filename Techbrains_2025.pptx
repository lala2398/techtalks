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  <p:embeddedFont>
      <p:font typeface="Roboto"/>
      <p:regular r:id="rId12"/>
      <p:bold r:id="rId13"/>
      <p:italic r:id="rId14"/>
      <p:boldItalic r:id="rId15"/>
    </p:embeddedFont>
    <p:embeddedFont>
      <p:font typeface="Playfair Display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Playfair Display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PlayfairDisplaySemiBol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26" Type="http://schemas.openxmlformats.org/officeDocument/2006/relationships/font" Target="fonts/PlayfairDisplaySemiBold-italic.fntdata"/><Relationship Id="rId25" Type="http://schemas.openxmlformats.org/officeDocument/2006/relationships/font" Target="fonts/PlayfairDisplaySemiBold-bold.fntdata"/><Relationship Id="rId27" Type="http://schemas.openxmlformats.org/officeDocument/2006/relationships/font" Target="fonts/PlayfairDisplay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roximaNova-regular.fntdata"/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386dc082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b386dc082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386dc082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b386dc082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>
            <p:ph idx="2" type="pic"/>
          </p:nvPr>
        </p:nvSpPr>
        <p:spPr>
          <a:xfrm>
            <a:off x="225075" y="284650"/>
            <a:ext cx="3215400" cy="46092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3810000" y="383200"/>
            <a:ext cx="4970400" cy="18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Playfair Display SemiBold"/>
              <a:buNone/>
              <a:defRPr sz="21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4"/>
          <p:cNvCxnSpPr/>
          <p:nvPr/>
        </p:nvCxnSpPr>
        <p:spPr>
          <a:xfrm rot="10800000">
            <a:off x="37" y="1804000"/>
            <a:ext cx="1516800" cy="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4"/>
          <p:cNvCxnSpPr/>
          <p:nvPr/>
        </p:nvCxnSpPr>
        <p:spPr>
          <a:xfrm rot="10800000">
            <a:off x="4104325" y="1823550"/>
            <a:ext cx="1892100" cy="9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 rot="10800000">
            <a:off x="2820313" y="289550"/>
            <a:ext cx="0" cy="125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413" y="-152412"/>
            <a:ext cx="2136425" cy="213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WhatsApp Image 2025-12-24 at 20.30.31.jpe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299" r="2299" t="0"/>
          <a:stretch/>
        </p:blipFill>
        <p:spPr>
          <a:xfrm>
            <a:off x="266125" y="289550"/>
            <a:ext cx="3158102" cy="3547500"/>
          </a:xfrm>
          <a:prstGeom prst="rect">
            <a:avLst/>
          </a:prstGeom>
        </p:spPr>
      </p:pic>
      <p:sp>
        <p:nvSpPr>
          <p:cNvPr id="67" name="Google Shape;67;p14"/>
          <p:cNvSpPr txBox="1"/>
          <p:nvPr>
            <p:ph type="title"/>
          </p:nvPr>
        </p:nvSpPr>
        <p:spPr>
          <a:xfrm>
            <a:off x="3810000" y="883225"/>
            <a:ext cx="4970400" cy="9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Computational Energy Analysis of Small-Ring Conformations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64900" y="3983750"/>
            <a:ext cx="275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Lala Ibadullayeva</a:t>
            </a:r>
            <a:endParaRPr b="1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64900" y="4228772"/>
            <a:ext cx="27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dk2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MSERA IMBB</a:t>
            </a:r>
            <a:endParaRPr sz="1200">
              <a:solidFill>
                <a:schemeClr val="dk2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132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2000"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Computational Energy Analysis of Small-Ring Conformations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2213275" y="602400"/>
            <a:ext cx="69306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1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30"/>
              <a:buFont typeface="Montserrat"/>
              <a:buChar char="-"/>
            </a:pPr>
            <a:r>
              <a:rPr b="1" lang="tr" sz="95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PROBLEM STATEMENT:</a:t>
            </a:r>
            <a:r>
              <a:rPr lang="tr" sz="95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Crystallography &amp; Cryo-EM often produce sparse, noisy data, making data-only macromolecular models unreliable.</a:t>
            </a:r>
            <a:endParaRPr sz="950">
              <a:solidFill>
                <a:srgbClr val="2027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Font typeface="Montserrat"/>
              <a:buChar char="-"/>
            </a:pPr>
            <a:r>
              <a:rPr b="1" lang="tr" sz="95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PROPOSED SOLUTION:</a:t>
            </a:r>
            <a:r>
              <a:rPr lang="tr" sz="95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Use Bayesian statistics to combine experimental data (likelihood) with existing knowledge (prior), enhancing model reliability. Our work builds the needed statistical priors for small rings.</a:t>
            </a:r>
            <a:endParaRPr sz="950">
              <a:solidFill>
                <a:srgbClr val="2027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Font typeface="Montserrat"/>
              <a:buChar char="-"/>
            </a:pPr>
            <a:r>
              <a:rPr b="1" lang="tr" sz="95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OUR APPROACH:</a:t>
            </a:r>
            <a:r>
              <a:rPr lang="tr" sz="95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We developed a framework integrating observational data (COD) with computational simulations (RDKit, PySCF) to classify and analyze small (4-6 membered) ring conformations.</a:t>
            </a:r>
            <a:endParaRPr b="1" sz="163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" name="Google Shape;76;p15"/>
          <p:cNvCxnSpPr>
            <a:endCxn id="77" idx="1"/>
          </p:cNvCxnSpPr>
          <p:nvPr/>
        </p:nvCxnSpPr>
        <p:spPr>
          <a:xfrm>
            <a:off x="14825" y="4635363"/>
            <a:ext cx="81993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5"/>
          <p:cNvSpPr txBox="1"/>
          <p:nvPr/>
        </p:nvSpPr>
        <p:spPr>
          <a:xfrm>
            <a:off x="457200" y="4681800"/>
            <a:ext cx="629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tr" sz="1600">
                <a:solidFill>
                  <a:srgbClr val="4BA173"/>
                </a:solidFill>
                <a:latin typeface="Montserrat"/>
                <a:ea typeface="Montserrat"/>
                <a:cs typeface="Montserrat"/>
                <a:sym typeface="Montserrat"/>
              </a:rPr>
              <a:t>https://www.linkedin.com/in/lala-ibadullayeva/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b="14027" l="15511" r="14496" t="14149"/>
          <a:stretch/>
        </p:blipFill>
        <p:spPr>
          <a:xfrm>
            <a:off x="91025" y="4722775"/>
            <a:ext cx="290700" cy="29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qr.png"/>
          <p:cNvPicPr preferRelativeResize="0"/>
          <p:nvPr/>
        </p:nvPicPr>
        <p:blipFill rotWithShape="1">
          <a:blip r:embed="rId4">
            <a:alphaModFix/>
          </a:blip>
          <a:srcRect b="0" l="3435" r="5440" t="0"/>
          <a:stretch/>
        </p:blipFill>
        <p:spPr>
          <a:xfrm>
            <a:off x="8091450" y="3863750"/>
            <a:ext cx="1052549" cy="11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title="Screenshot from 2025-11-06 13-19-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075" y="705425"/>
            <a:ext cx="2374224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Screenshot 2025-12-18 21503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25" y="2968951"/>
            <a:ext cx="2950800" cy="147933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826325" y="1902600"/>
            <a:ext cx="32421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9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SYSTEM DESIGN:</a:t>
            </a:r>
            <a:endParaRPr b="1" sz="900">
              <a:solidFill>
                <a:srgbClr val="2027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900"/>
              <a:buFont typeface="Roboto"/>
              <a:buAutoNum type="arabicPeriod"/>
            </a:pPr>
            <a:r>
              <a:rPr lang="tr" sz="9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Ring Selection Criteria: Filtered high-resolution COD structures (~116k rings).</a:t>
            </a:r>
            <a:endParaRPr sz="900">
              <a:solidFill>
                <a:srgbClr val="2027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900"/>
              <a:buFont typeface="Roboto"/>
              <a:buAutoNum type="arabicPeriod"/>
            </a:pPr>
            <a:r>
              <a:rPr lang="tr" sz="9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Ring Classification: Categorized rings by atomic connectivity (7600 classes).</a:t>
            </a:r>
            <a:endParaRPr sz="900">
              <a:solidFill>
                <a:srgbClr val="2027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900"/>
              <a:buFont typeface="Roboto"/>
              <a:buAutoNum type="arabicPeriod"/>
            </a:pPr>
            <a:r>
              <a:rPr lang="tr" sz="9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Conformer Generation: Created &amp; optimized conformers from SMILES using RDKit.</a:t>
            </a:r>
            <a:endParaRPr sz="900">
              <a:solidFill>
                <a:srgbClr val="2027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900"/>
              <a:buFont typeface="Roboto"/>
              <a:buAutoNum type="arabicPeriod"/>
            </a:pPr>
            <a:r>
              <a:rPr lang="tr" sz="9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Energy Evaluation: Computed energies via MMFF/UFF (RdKit) and accurate DFT/HF (PySCF).</a:t>
            </a:r>
            <a:endParaRPr sz="900">
              <a:solidFill>
                <a:srgbClr val="2027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900"/>
              <a:buFont typeface="Roboto"/>
              <a:buAutoNum type="arabicPeriod"/>
            </a:pPr>
            <a:r>
              <a:rPr lang="tr" sz="9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Model Integration: Combined observational (COD) and theoretical (simulation) data.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068425" y="1995050"/>
            <a:ext cx="2950800" cy="19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9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KEY RESULT / WHAT WE FOUND:</a:t>
            </a:r>
            <a:endParaRPr b="1" sz="900">
              <a:solidFill>
                <a:srgbClr val="2027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900"/>
              <a:buFont typeface="Roboto"/>
              <a:buChar char="●"/>
            </a:pPr>
            <a:r>
              <a:rPr lang="tr" sz="9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Structural overlay of nearly iso-energetic low-energy conformers reveals significant differences in ring puckering and substituent orientation.</a:t>
            </a:r>
            <a:endParaRPr sz="900">
              <a:solidFill>
                <a:srgbClr val="2027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900"/>
              <a:buFont typeface="Roboto"/>
              <a:buChar char="●"/>
            </a:pPr>
            <a:r>
              <a:rPr lang="tr" sz="9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energy ranking plot shows small differences among the lowest-energy conformers, showing multiple accessible states.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134988" y="3863750"/>
            <a:ext cx="47871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0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APPLICATION / WHO BENEFITS:</a:t>
            </a:r>
            <a:r>
              <a:rPr lang="tr" sz="1000">
                <a:solidFill>
                  <a:srgbClr val="2027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Enables more accurate macromolecular modeling (PDB validation) containing ligands with small rings, ligand design (carbohydrates, small molecules), and analysis of RNA/DNA structures by providing robust statistical priors.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