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143500" cx="9144000"/>
  <p:notesSz cx="6858000" cy="9144000"/>
  <p:embeddedFontLst>
    <p:embeddedFont>
      <p:font typeface="Arial Narrow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rOzmBvLR1QU2rs/wQK3a9vewh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alNarrow-italic.fntdata"/><Relationship Id="rId10" Type="http://schemas.openxmlformats.org/officeDocument/2006/relationships/font" Target="fonts/ArialNarrow-bold.fntdata"/><Relationship Id="rId13" Type="http://customschemas.google.com/relationships/presentationmetadata" Target="metadata"/><Relationship Id="rId12" Type="http://schemas.openxmlformats.org/officeDocument/2006/relationships/font" Target="fonts/ArialNarrow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ArialNarrow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621b66bb3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g3621b66bb3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621b66bb34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621b66bb34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21b66bb34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621b66bb34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/>
          <p:nvPr/>
        </p:nvSpPr>
        <p:spPr>
          <a:xfrm>
            <a:off x="0" y="1"/>
            <a:ext cx="9204960" cy="5143499"/>
          </a:xfrm>
          <a:prstGeom prst="rect">
            <a:avLst/>
          </a:prstGeom>
          <a:solidFill>
            <a:srgbClr val="EAE4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145" y="221008"/>
            <a:ext cx="2148236" cy="116362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7"/>
          <p:cNvSpPr/>
          <p:nvPr/>
        </p:nvSpPr>
        <p:spPr>
          <a:xfrm>
            <a:off x="333318" y="1376198"/>
            <a:ext cx="1255260" cy="211015"/>
          </a:xfrm>
          <a:prstGeom prst="rect">
            <a:avLst/>
          </a:prstGeom>
          <a:solidFill>
            <a:srgbClr val="E403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7"/>
          <p:cNvSpPr/>
          <p:nvPr/>
        </p:nvSpPr>
        <p:spPr>
          <a:xfrm>
            <a:off x="272546" y="1744821"/>
            <a:ext cx="8696642" cy="2723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 slide: </a:t>
            </a:r>
            <a:b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enter your presentation title (‘Breaking the Wall of’ + max. 25 characters incl. spaces), </a:t>
            </a:r>
            <a:b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and last name, citizenship, and university/institution. Enter your information only in the placeholders provided. </a:t>
            </a:r>
            <a:r>
              <a:rPr b="0" i="0" lang="en-GB" sz="1200" u="none" cap="none" strike="noStrike">
                <a:solidFill>
                  <a:srgbClr val="E40313"/>
                </a:solidFill>
                <a:latin typeface="Arial"/>
                <a:ea typeface="Arial"/>
                <a:cs typeface="Arial"/>
                <a:sym typeface="Arial"/>
              </a:rPr>
              <a:t>Do not change the font size/colour, any of the logos, or the layout of the slide.</a:t>
            </a:r>
            <a:br>
              <a:rPr b="0" i="0" lang="en-GB" sz="1200" u="none" cap="none" strike="noStrike">
                <a:solidFill>
                  <a:srgbClr val="E4031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rgbClr val="E4031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content slide: </a:t>
            </a:r>
            <a:b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this slide to explain the wall that you intend to break down (i.e. explain the problem you are trying to solve).</a:t>
            </a:r>
            <a:b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Second content slide: </a:t>
            </a:r>
            <a:br>
              <a:rPr b="1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this slide to explain how you want to break down the wall (i.e. offer your solution to the problem). </a:t>
            </a:r>
            <a:b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keep in mind that you have 2:30 minutes before the Q&amp;A starts. Should no questions be asked or comments be given, you may proceed with your presentation until the full three minutes are over.</a:t>
            </a:r>
            <a:endParaRPr/>
          </a:p>
        </p:txBody>
      </p:sp>
      <p:sp>
        <p:nvSpPr>
          <p:cNvPr id="20" name="Google Shape;20;p7"/>
          <p:cNvSpPr txBox="1"/>
          <p:nvPr/>
        </p:nvSpPr>
        <p:spPr>
          <a:xfrm>
            <a:off x="285553" y="1350827"/>
            <a:ext cx="14948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INSTRUCTIONS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/>
        </p:nvSpPr>
        <p:spPr>
          <a:xfrm>
            <a:off x="248799" y="4481545"/>
            <a:ext cx="248441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F9F92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AF9F92"/>
                </a:solidFill>
                <a:latin typeface="Arial"/>
                <a:ea typeface="Arial"/>
                <a:cs typeface="Arial"/>
                <a:sym typeface="Arial"/>
              </a:rPr>
              <a:t>FALLING WALLS </a:t>
            </a:r>
            <a:r>
              <a:rPr b="1" i="0" lang="en-GB" sz="1200" u="none" cap="none" strike="noStrike">
                <a:solidFill>
                  <a:srgbClr val="E40313"/>
                </a:solidFill>
                <a:latin typeface="Arial"/>
                <a:ea typeface="Arial"/>
                <a:cs typeface="Arial"/>
                <a:sym typeface="Arial"/>
              </a:rPr>
              <a:t>LAB</a:t>
            </a:r>
            <a:endParaRPr/>
          </a:p>
        </p:txBody>
      </p:sp>
      <p:sp>
        <p:nvSpPr>
          <p:cNvPr id="23" name="Google Shape;23;p8"/>
          <p:cNvSpPr txBox="1"/>
          <p:nvPr/>
        </p:nvSpPr>
        <p:spPr>
          <a:xfrm>
            <a:off x="1794617" y="1452638"/>
            <a:ext cx="63816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00" u="none" cap="none" strike="noStrike">
                <a:solidFill>
                  <a:srgbClr val="AE9D8F"/>
                </a:solidFill>
                <a:latin typeface="Arial Narrow"/>
                <a:ea typeface="Arial Narrow"/>
                <a:cs typeface="Arial Narrow"/>
                <a:sym typeface="Arial Narrow"/>
              </a:rPr>
              <a:t>BREAKING THE WALL OF</a:t>
            </a:r>
            <a:endParaRPr/>
          </a:p>
        </p:txBody>
      </p:sp>
      <p:pic>
        <p:nvPicPr>
          <p:cNvPr id="24" name="Google Shape;2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9154" y="221008"/>
            <a:ext cx="2169665" cy="1173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2452" y="4229029"/>
            <a:ext cx="855337" cy="475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7786" y="4152588"/>
            <a:ext cx="2209645" cy="623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/>
        </p:nvSpPr>
        <p:spPr>
          <a:xfrm>
            <a:off x="1503681" y="1714833"/>
            <a:ext cx="6471919" cy="1459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rPr b="1" lang="en-GB" sz="7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621b66bb34_0_0"/>
          <p:cNvSpPr txBox="1"/>
          <p:nvPr/>
        </p:nvSpPr>
        <p:spPr>
          <a:xfrm>
            <a:off x="1792600" y="1879525"/>
            <a:ext cx="671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11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GB" sz="2800">
                <a:solidFill>
                  <a:srgbClr val="AF9F92"/>
                </a:solidFill>
                <a:highlight>
                  <a:schemeClr val="lt1"/>
                </a:highlight>
                <a:latin typeface="Arial Narrow"/>
                <a:ea typeface="Arial Narrow"/>
                <a:cs typeface="Arial Narrow"/>
                <a:sym typeface="Arial Narrow"/>
              </a:rPr>
              <a:t>QUALITY OF PROTEIN MODELS</a:t>
            </a:r>
            <a:endParaRPr b="1" sz="2800">
              <a:solidFill>
                <a:srgbClr val="AF9F92"/>
              </a:solidFill>
              <a:highlight>
                <a:schemeClr val="lt1"/>
              </a:highlight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5" name="Google Shape;35;g3621b66bb34_0_0"/>
          <p:cNvSpPr txBox="1"/>
          <p:nvPr/>
        </p:nvSpPr>
        <p:spPr>
          <a:xfrm>
            <a:off x="1792589" y="2763885"/>
            <a:ext cx="4728900" cy="10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27025" lvl="0" marL="342900" marR="0" rtl="0" algn="l">
              <a:lnSpc>
                <a:spcPct val="7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E40313"/>
                </a:solidFill>
              </a:rPr>
              <a:t>Lala</a:t>
            </a:r>
            <a:r>
              <a:rPr b="1" lang="en-GB" sz="1800">
                <a:solidFill>
                  <a:srgbClr val="E4031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GB" sz="1800">
                <a:solidFill>
                  <a:srgbClr val="E40313"/>
                </a:solidFill>
              </a:rPr>
              <a:t>Ibadullayeva</a:t>
            </a:r>
            <a:endParaRPr/>
          </a:p>
          <a:p>
            <a:pPr indent="-327025" lvl="0" marL="342900" marR="0" rtl="0" algn="l">
              <a:lnSpc>
                <a:spcPct val="77777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AE9D8F"/>
                </a:solidFill>
              </a:rPr>
              <a:t>Azerbaijani</a:t>
            </a:r>
            <a:endParaRPr/>
          </a:p>
          <a:p>
            <a:pPr indent="-327025" lvl="0" marL="342900" marR="0" rtl="0" algn="l">
              <a:lnSpc>
                <a:spcPct val="77777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rgbClr val="AE9D8F"/>
                </a:solidFill>
                <a:latin typeface="Georgia"/>
                <a:ea typeface="Georgia"/>
                <a:cs typeface="Georgia"/>
                <a:sym typeface="Georgia"/>
              </a:rPr>
              <a:t>MSERA IMBB</a:t>
            </a:r>
            <a:endParaRPr/>
          </a:p>
        </p:txBody>
      </p:sp>
      <p:sp>
        <p:nvSpPr>
          <p:cNvPr id="36" name="Google Shape;36;g3621b66bb34_0_0"/>
          <p:cNvSpPr txBox="1"/>
          <p:nvPr/>
        </p:nvSpPr>
        <p:spPr>
          <a:xfrm>
            <a:off x="1907577" y="4480650"/>
            <a:ext cx="2470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E40313"/>
                </a:solidFill>
                <a:latin typeface="Arial"/>
                <a:ea typeface="Arial"/>
                <a:cs typeface="Arial"/>
                <a:sym typeface="Arial"/>
              </a:rPr>
              <a:t>AZERBAIJAN</a:t>
            </a:r>
            <a:endParaRPr b="1" sz="1200">
              <a:solidFill>
                <a:srgbClr val="E403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g3621b66bb34_0_0"/>
          <p:cNvSpPr txBox="1"/>
          <p:nvPr/>
        </p:nvSpPr>
        <p:spPr>
          <a:xfrm>
            <a:off x="1038386" y="495946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38;g3621b66bb3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8395" y="4163450"/>
            <a:ext cx="1368304" cy="606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621b66bb34_0_8"/>
          <p:cNvSpPr txBox="1"/>
          <p:nvPr/>
        </p:nvSpPr>
        <p:spPr>
          <a:xfrm>
            <a:off x="225330" y="252743"/>
            <a:ext cx="28536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1787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40313"/>
              </a:buClr>
              <a:buSzPts val="1200"/>
              <a:buFont typeface="Arial"/>
              <a:buNone/>
            </a:pPr>
            <a:r>
              <a:rPr b="1" lang="en-GB" sz="1200">
                <a:solidFill>
                  <a:srgbClr val="E40313"/>
                </a:solidFill>
              </a:rPr>
              <a:t>LALA</a:t>
            </a:r>
            <a:r>
              <a:rPr b="1" lang="en-GB" sz="1200">
                <a:solidFill>
                  <a:srgbClr val="E4031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GB" sz="1200">
                <a:solidFill>
                  <a:srgbClr val="E40313"/>
                </a:solidFill>
              </a:rPr>
              <a:t>IBADULLAYEVA</a:t>
            </a:r>
            <a:r>
              <a:rPr b="1" lang="en-GB" sz="1200">
                <a:solidFill>
                  <a:srgbClr val="E40313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sp>
        <p:nvSpPr>
          <p:cNvPr id="44" name="Google Shape;44;g3621b66bb34_0_8"/>
          <p:cNvSpPr txBox="1"/>
          <p:nvPr/>
        </p:nvSpPr>
        <p:spPr>
          <a:xfrm>
            <a:off x="3900489" y="252743"/>
            <a:ext cx="50181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1787" lvl="0" marL="34290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BREAKING THE WALL OF </a:t>
            </a:r>
            <a:r>
              <a:rPr b="1" lang="en-GB" sz="1200">
                <a:solidFill>
                  <a:schemeClr val="dk1"/>
                </a:solidFill>
                <a:highlight>
                  <a:schemeClr val="lt1"/>
                </a:highlight>
              </a:rPr>
              <a:t>QUALITY OF PROTEIN MODELS</a:t>
            </a:r>
            <a:endParaRPr b="1"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31787" lvl="0" marL="34290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</p:txBody>
      </p:sp>
      <p:sp>
        <p:nvSpPr>
          <p:cNvPr id="45" name="Google Shape;45;g3621b66bb34_0_8"/>
          <p:cNvSpPr txBox="1"/>
          <p:nvPr/>
        </p:nvSpPr>
        <p:spPr>
          <a:xfrm>
            <a:off x="187075" y="872575"/>
            <a:ext cx="87138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rgbClr val="AF9F92"/>
                </a:solidFill>
                <a:latin typeface="Arial Narrow"/>
                <a:ea typeface="Arial Narrow"/>
                <a:cs typeface="Arial Narrow"/>
                <a:sym typeface="Arial Narrow"/>
              </a:rPr>
              <a:t>Main 3D structure methods (macromolecular crystallography, cryo-electron microscopy) yield sparse, noisy data.</a:t>
            </a:r>
            <a:endParaRPr b="1" sz="1500">
              <a:solidFill>
                <a:srgbClr val="AF9F9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500">
                <a:solidFill>
                  <a:srgbClr val="AF9F92"/>
                </a:solidFill>
                <a:latin typeface="Arial Narrow"/>
                <a:ea typeface="Arial Narrow"/>
                <a:cs typeface="Arial Narrow"/>
                <a:sym typeface="Arial Narrow"/>
              </a:rPr>
              <a:t>Bayesian statistics produces reliable model by combining observation and prior knowledge.</a:t>
            </a:r>
            <a:endParaRPr b="1" sz="1500">
              <a:solidFill>
                <a:srgbClr val="AF9F9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AF9F9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1500" u="sng">
                <a:solidFill>
                  <a:srgbClr val="AF9F92"/>
                </a:solidFill>
                <a:latin typeface="Arial Narrow"/>
                <a:ea typeface="Arial Narrow"/>
                <a:cs typeface="Arial Narrow"/>
                <a:sym typeface="Arial Narrow"/>
              </a:rPr>
              <a:t>Challenge:</a:t>
            </a:r>
            <a:r>
              <a:rPr b="1" lang="en-GB" sz="1500">
                <a:solidFill>
                  <a:srgbClr val="AF9F92"/>
                </a:solidFill>
                <a:latin typeface="Arial Narrow"/>
                <a:ea typeface="Arial Narrow"/>
                <a:cs typeface="Arial Narrow"/>
                <a:sym typeface="Arial Narrow"/>
              </a:rPr>
              <a:t> Create probability distributions for multimodal, environment-dependent conformation angles in small rings, considering ring closure constraints.</a:t>
            </a:r>
            <a:endParaRPr b="1" sz="1500">
              <a:solidFill>
                <a:srgbClr val="AF9F9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46" name="Google Shape;46;g3621b66bb34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2175" y="4662350"/>
            <a:ext cx="4059299" cy="3824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g3621b66bb34_0_8"/>
          <p:cNvSpPr/>
          <p:nvPr/>
        </p:nvSpPr>
        <p:spPr>
          <a:xfrm>
            <a:off x="680675" y="3187150"/>
            <a:ext cx="1083000" cy="645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4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Data Processing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621b66bb34_0_8"/>
          <p:cNvSpPr/>
          <p:nvPr/>
        </p:nvSpPr>
        <p:spPr>
          <a:xfrm>
            <a:off x="842100" y="2527950"/>
            <a:ext cx="760150" cy="478500"/>
          </a:xfrm>
          <a:prstGeom prst="flowChartMagneticDisk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4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COD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g3621b66bb34_0_8"/>
          <p:cNvCxnSpPr>
            <a:stCxn id="48" idx="3"/>
            <a:endCxn id="47" idx="0"/>
          </p:cNvCxnSpPr>
          <p:nvPr/>
        </p:nvCxnSpPr>
        <p:spPr>
          <a:xfrm>
            <a:off x="1222175" y="3006450"/>
            <a:ext cx="0" cy="18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chemeClr val="lt1">
                <a:alpha val="49000"/>
              </a:schemeClr>
            </a:outerShdw>
          </a:effectLst>
        </p:spPr>
      </p:cxnSp>
      <p:sp>
        <p:nvSpPr>
          <p:cNvPr id="50" name="Google Shape;50;g3621b66bb34_0_8"/>
          <p:cNvSpPr/>
          <p:nvPr/>
        </p:nvSpPr>
        <p:spPr>
          <a:xfrm>
            <a:off x="2044450" y="3187175"/>
            <a:ext cx="666700" cy="645000"/>
          </a:xfrm>
          <a:prstGeom prst="flowChartMagneticDisk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4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Ring classes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g3621b66bb34_0_8"/>
          <p:cNvCxnSpPr>
            <a:stCxn id="47" idx="6"/>
            <a:endCxn id="50" idx="2"/>
          </p:cNvCxnSpPr>
          <p:nvPr/>
        </p:nvCxnSpPr>
        <p:spPr>
          <a:xfrm>
            <a:off x="1763675" y="3509650"/>
            <a:ext cx="28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chemeClr val="lt1">
                <a:alpha val="49000"/>
              </a:schemeClr>
            </a:outerShdw>
          </a:effectLst>
        </p:spPr>
      </p:cxnSp>
      <p:sp>
        <p:nvSpPr>
          <p:cNvPr id="52" name="Google Shape;52;g3621b66bb34_0_8"/>
          <p:cNvSpPr/>
          <p:nvPr/>
        </p:nvSpPr>
        <p:spPr>
          <a:xfrm>
            <a:off x="3097500" y="3281625"/>
            <a:ext cx="1152000" cy="550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4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Simulations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g3621b66bb34_0_8"/>
          <p:cNvCxnSpPr/>
          <p:nvPr/>
        </p:nvCxnSpPr>
        <p:spPr>
          <a:xfrm flipH="1" rot="-8701294">
            <a:off x="2754532" y="3137508"/>
            <a:ext cx="518082" cy="370821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chemeClr val="lt1">
                <a:alpha val="49000"/>
              </a:schemeClr>
            </a:outerShdw>
          </a:effectLst>
        </p:spPr>
      </p:cxnSp>
      <p:cxnSp>
        <p:nvCxnSpPr>
          <p:cNvPr id="54" name="Google Shape;54;g3621b66bb34_0_8"/>
          <p:cNvCxnSpPr>
            <a:stCxn id="52" idx="3"/>
          </p:cNvCxnSpPr>
          <p:nvPr/>
        </p:nvCxnSpPr>
        <p:spPr>
          <a:xfrm flipH="1">
            <a:off x="2704006" y="3751762"/>
            <a:ext cx="562200" cy="14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chemeClr val="lt1">
                <a:alpha val="49000"/>
              </a:schemeClr>
            </a:outerShdw>
          </a:effectLst>
        </p:spPr>
      </p:cxnSp>
      <p:sp>
        <p:nvSpPr>
          <p:cNvPr id="55" name="Google Shape;55;g3621b66bb34_0_8"/>
          <p:cNvSpPr/>
          <p:nvPr/>
        </p:nvSpPr>
        <p:spPr>
          <a:xfrm>
            <a:off x="1836296" y="4098015"/>
            <a:ext cx="1083000" cy="645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1">
                <a:alpha val="49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Calibri"/>
                <a:ea typeface="Calibri"/>
                <a:cs typeface="Calibri"/>
                <a:sym typeface="Calibri"/>
              </a:rPr>
              <a:t>Application to the PDB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g3621b66bb34_0_8"/>
          <p:cNvCxnSpPr>
            <a:stCxn id="50" idx="3"/>
            <a:endCxn id="55" idx="0"/>
          </p:cNvCxnSpPr>
          <p:nvPr/>
        </p:nvCxnSpPr>
        <p:spPr>
          <a:xfrm>
            <a:off x="2377800" y="3832175"/>
            <a:ext cx="0" cy="2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chemeClr val="lt1">
                <a:alpha val="49000"/>
              </a:schemeClr>
            </a:outerShdw>
          </a:effectLst>
        </p:spPr>
      </p:cxnSp>
      <p:sp>
        <p:nvSpPr>
          <p:cNvPr id="57" name="Google Shape;57;g3621b66bb34_0_8"/>
          <p:cNvSpPr/>
          <p:nvPr/>
        </p:nvSpPr>
        <p:spPr>
          <a:xfrm>
            <a:off x="303025" y="2307400"/>
            <a:ext cx="4369500" cy="1701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621b66bb34_0_8"/>
          <p:cNvSpPr txBox="1"/>
          <p:nvPr/>
        </p:nvSpPr>
        <p:spPr>
          <a:xfrm>
            <a:off x="3688325" y="2369950"/>
            <a:ext cx="984300" cy="507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621b66bb34_0_8"/>
          <p:cNvSpPr txBox="1"/>
          <p:nvPr/>
        </p:nvSpPr>
        <p:spPr>
          <a:xfrm>
            <a:off x="3688325" y="4097975"/>
            <a:ext cx="984300" cy="507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g3621b66bb34_0_8"/>
          <p:cNvPicPr preferRelativeResize="0"/>
          <p:nvPr/>
        </p:nvPicPr>
        <p:blipFill rotWithShape="1">
          <a:blip r:embed="rId4">
            <a:alphaModFix/>
          </a:blip>
          <a:srcRect b="22122" l="28631" r="27300" t="20949"/>
          <a:stretch/>
        </p:blipFill>
        <p:spPr>
          <a:xfrm>
            <a:off x="5528825" y="2850250"/>
            <a:ext cx="1363725" cy="131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g3621b66bb34_0_8"/>
          <p:cNvPicPr preferRelativeResize="0"/>
          <p:nvPr/>
        </p:nvPicPr>
        <p:blipFill rotWithShape="1">
          <a:blip r:embed="rId5">
            <a:alphaModFix/>
          </a:blip>
          <a:srcRect b="22535" l="25212" r="26040" t="17400"/>
          <a:stretch/>
        </p:blipFill>
        <p:spPr>
          <a:xfrm>
            <a:off x="7316175" y="2880700"/>
            <a:ext cx="1363725" cy="125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21b66bb34_0_19"/>
          <p:cNvSpPr txBox="1"/>
          <p:nvPr/>
        </p:nvSpPr>
        <p:spPr>
          <a:xfrm>
            <a:off x="36825" y="808150"/>
            <a:ext cx="56031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u="sng">
                <a:solidFill>
                  <a:srgbClr val="AF9F92"/>
                </a:solidFill>
                <a:latin typeface="Arial Narrow"/>
                <a:ea typeface="Arial Narrow"/>
                <a:cs typeface="Arial Narrow"/>
                <a:sym typeface="Arial Narrow"/>
              </a:rPr>
              <a:t>Methods:</a:t>
            </a:r>
            <a:r>
              <a:rPr b="1" lang="en-GB">
                <a:solidFill>
                  <a:srgbClr val="AF9F92"/>
                </a:solidFill>
                <a:latin typeface="Arial Narrow"/>
                <a:ea typeface="Arial Narrow"/>
                <a:cs typeface="Arial Narrow"/>
                <a:sym typeface="Arial Narrow"/>
              </a:rPr>
              <a:t> Extract, classify and organise all ring classes from the COD</a:t>
            </a:r>
            <a:endParaRPr b="1">
              <a:solidFill>
                <a:srgbClr val="AF9F9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AF9F92"/>
                </a:solidFill>
                <a:latin typeface="Arial Narrow"/>
                <a:ea typeface="Arial Narrow"/>
                <a:cs typeface="Arial Narrow"/>
                <a:sym typeface="Arial Narrow"/>
              </a:rPr>
              <a:t>Simulate conformations and calculate energies for all ring conformation using Computational Chemistry </a:t>
            </a:r>
            <a:endParaRPr b="1">
              <a:solidFill>
                <a:srgbClr val="AF9F9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AF9F9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u="sng">
                <a:solidFill>
                  <a:srgbClr val="AF9F92"/>
                </a:solidFill>
                <a:latin typeface="Arial Narrow"/>
                <a:ea typeface="Arial Narrow"/>
                <a:cs typeface="Arial Narrow"/>
                <a:sym typeface="Arial Narrow"/>
              </a:rPr>
              <a:t>Results:</a:t>
            </a:r>
            <a:r>
              <a:rPr b="1" lang="en-GB">
                <a:solidFill>
                  <a:srgbClr val="AF9F92"/>
                </a:solidFill>
                <a:latin typeface="Arial Narrow"/>
                <a:ea typeface="Arial Narrow"/>
                <a:cs typeface="Arial Narrow"/>
                <a:sym typeface="Arial Narrow"/>
              </a:rPr>
              <a:t>  523,000 COD structures yielded 126,000 reliable ring substructures, with 7,600 ring classes. Developing tools for simulations using RDKit and PySCF.</a:t>
            </a:r>
            <a:endParaRPr b="1">
              <a:solidFill>
                <a:srgbClr val="AF9F9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AF9F92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u="sng">
                <a:solidFill>
                  <a:srgbClr val="AF9F92"/>
                </a:solidFill>
                <a:latin typeface="Arial Narrow"/>
                <a:ea typeface="Arial Narrow"/>
                <a:cs typeface="Arial Narrow"/>
                <a:sym typeface="Arial Narrow"/>
              </a:rPr>
              <a:t>Conclusion:</a:t>
            </a:r>
            <a:r>
              <a:rPr b="1" lang="en-GB">
                <a:solidFill>
                  <a:srgbClr val="AF9F92"/>
                </a:solidFill>
                <a:latin typeface="Arial Narrow"/>
                <a:ea typeface="Arial Narrow"/>
                <a:cs typeface="Arial Narrow"/>
                <a:sym typeface="Arial Narrow"/>
              </a:rPr>
              <a:t> Combining experimental data with simulations aids in designing multimodal probability distributions, potentially enhancing Protein Data Bank entry reliability.</a:t>
            </a:r>
            <a:endParaRPr b="1">
              <a:solidFill>
                <a:srgbClr val="AF9F9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7" name="Google Shape;67;g3621b66bb34_0_19"/>
          <p:cNvSpPr txBox="1"/>
          <p:nvPr/>
        </p:nvSpPr>
        <p:spPr>
          <a:xfrm>
            <a:off x="225330" y="252743"/>
            <a:ext cx="28536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1787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40313"/>
              </a:buClr>
              <a:buSzPts val="1200"/>
              <a:buFont typeface="Arial"/>
              <a:buNone/>
            </a:pPr>
            <a:r>
              <a:rPr b="1" lang="en-GB" sz="1200">
                <a:solidFill>
                  <a:srgbClr val="E40313"/>
                </a:solidFill>
              </a:rPr>
              <a:t>LALA</a:t>
            </a:r>
            <a:r>
              <a:rPr b="1" lang="en-GB" sz="1200">
                <a:solidFill>
                  <a:srgbClr val="E4031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GB" sz="1200">
                <a:solidFill>
                  <a:srgbClr val="E40313"/>
                </a:solidFill>
              </a:rPr>
              <a:t>IBADULLAYEVA</a:t>
            </a:r>
            <a:endParaRPr/>
          </a:p>
        </p:txBody>
      </p:sp>
      <p:sp>
        <p:nvSpPr>
          <p:cNvPr id="68" name="Google Shape;68;g3621b66bb34_0_19"/>
          <p:cNvSpPr txBox="1"/>
          <p:nvPr/>
        </p:nvSpPr>
        <p:spPr>
          <a:xfrm>
            <a:off x="3651425" y="252750"/>
            <a:ext cx="52677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1787" lvl="0" marL="34290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BREAKING THE WALL OF </a:t>
            </a:r>
            <a:r>
              <a:rPr b="1" lang="en-GB" sz="1200">
                <a:solidFill>
                  <a:schemeClr val="dk1"/>
                </a:solidFill>
                <a:highlight>
                  <a:schemeClr val="lt1"/>
                </a:highlight>
              </a:rPr>
              <a:t>QUALITY OF PROTEIN MODELS</a:t>
            </a:r>
            <a:endParaRPr b="1"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69" name="Google Shape;69;g3621b66bb34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325" y="3582050"/>
            <a:ext cx="2312726" cy="154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g3621b66bb34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8900" y="3582050"/>
            <a:ext cx="2173881" cy="144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g3621b66bb34_0_19" title="Lala_CPM_conference_poster.png"/>
          <p:cNvPicPr preferRelativeResize="0"/>
          <p:nvPr/>
        </p:nvPicPr>
        <p:blipFill rotWithShape="1">
          <a:blip r:embed="rId5">
            <a:alphaModFix/>
          </a:blip>
          <a:srcRect b="19157" l="33890" r="26035" t="25440"/>
          <a:stretch/>
        </p:blipFill>
        <p:spPr>
          <a:xfrm>
            <a:off x="6683975" y="841275"/>
            <a:ext cx="1421599" cy="14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g3621b66bb34_0_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08263" y="2476300"/>
            <a:ext cx="3039986" cy="2547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2021-01-22T14:34:01Z</dcterms:created>
  <dc:creator>Meghan Wolf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0x010100947D472548A9B740B951B187F7D02714</vt:lpwstr>
  </property>
  <property fmtid="{D5CDD505-2E9C-101B-9397-08002B2CF9AE}" pid="3" name="Order">
    <vt:r8>748000.0</vt:r8>
  </property>
  <property fmtid="{D5CDD505-2E9C-101B-9397-08002B2CF9AE}" pid="4" name="MediaServiceImageTags">
    <vt:lpwstr/>
  </property>
</Properties>
</file>