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Proxima Nova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roximaNova-bold.fntdata"/><Relationship Id="rId27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ximaNov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ProximaNova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fe1fbcb0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fe1fbcb0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6d85d4c0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6d85d4c0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6d85d4c0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6d85d4c0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fe1fbcb08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fe1fbcb08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fe1fbcb08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fe1fbcb08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fe1fbcb08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fe1fbcb08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fe1fbcb08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5fe1fbcb08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fe1fbcb08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fe1fbcb08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fe1fbcb08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fe1fbcb08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7a8052f7a_1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7a8052f7a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fe1fbcb08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fe1fbcb08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fe1fbcb08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5fe1fbcb08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fe1fbcb08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5fe1fbcb08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5fe1fbcb08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5fe1fbcb08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fe1fbcb08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5fe1fbcb08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fe1fbcb08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5fe1fbcb08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fe1fbcb08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5fe1fbcb08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fe1fbcb08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5fe1fbcb08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6d85d4c0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66d85d4c0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fe1fbcb08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fe1fbcb08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lala.ibadullayeva@gmail.com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18.png"/><Relationship Id="rId6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5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496500"/>
            <a:ext cx="8123100" cy="134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2400">
                <a:latin typeface="Arial"/>
                <a:ea typeface="Arial"/>
                <a:cs typeface="Arial"/>
                <a:sym typeface="Arial"/>
              </a:rPr>
              <a:t>Statistical learning from simulation and observations with application to the protein ligand structures</a:t>
            </a:r>
            <a:endParaRPr b="1" sz="56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24"/>
            <a:ext cx="8123100" cy="10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500" u="sng">
                <a:latin typeface="Arial"/>
                <a:ea typeface="Arial"/>
                <a:cs typeface="Arial"/>
                <a:sym typeface="Arial"/>
              </a:rPr>
              <a:t>Lala Ibadullayeva</a:t>
            </a:r>
            <a:endParaRPr b="1" baseline="30000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tr" sz="1500">
                <a:latin typeface="Arial"/>
                <a:ea typeface="Arial"/>
                <a:cs typeface="Arial"/>
                <a:sym typeface="Arial"/>
              </a:rPr>
              <a:t> MSERA, IMBB, Baku, Azerbaijan</a:t>
            </a:r>
            <a:endParaRPr i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5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tr" sz="1500" u="sng">
                <a:latin typeface="Arial"/>
                <a:ea typeface="Arial"/>
                <a:cs typeface="Arial"/>
                <a:sym typeface="Arial"/>
                <a:hlinkClick r:id="rId3"/>
              </a:rPr>
              <a:t>lala.ibadullayeva@gmail.co</a:t>
            </a:r>
            <a:r>
              <a:rPr lang="tr" sz="1500">
                <a:latin typeface="Arial"/>
                <a:ea typeface="Arial"/>
                <a:cs typeface="Arial"/>
                <a:sym typeface="Arial"/>
              </a:rPr>
              <a:t>m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2190300" y="4191825"/>
            <a:ext cx="47634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12-13 June, 2025, Baku, Azerbaijan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2096000" y="4580625"/>
            <a:ext cx="5293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900">
                <a:solidFill>
                  <a:schemeClr val="lt1"/>
                </a:solidFill>
              </a:rPr>
              <a:t>“Wheat Improvement through the Application of Digital and GWAS-Based Technologies” Conference</a:t>
            </a:r>
            <a:endParaRPr sz="900">
              <a:solidFill>
                <a:schemeClr val="lt1"/>
              </a:solidFill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300" y="518250"/>
            <a:ext cx="1466470" cy="73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9800" y="518251"/>
            <a:ext cx="1413875" cy="783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 title="Screenshot 2025-06-10 at 12-27-38 Main_logotype_AZE.png (PNG Image 2000 × 1189 pixels) — Scaled (81%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1800" y="451800"/>
            <a:ext cx="1466474" cy="871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Plan :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311700" y="1152475"/>
            <a:ext cx="8520600" cy="37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tr">
                <a:solidFill>
                  <a:schemeClr val="dk1"/>
                </a:solidFill>
              </a:rPr>
              <a:t>Introduction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tr">
                <a:solidFill>
                  <a:schemeClr val="dk1"/>
                </a:solidFill>
              </a:rPr>
              <a:t>Aim of Research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tr">
                <a:solidFill>
                  <a:schemeClr val="dk1"/>
                </a:solidFill>
              </a:rPr>
              <a:t>Methods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tr">
                <a:solidFill>
                  <a:schemeClr val="dk1"/>
                </a:solidFill>
              </a:rPr>
              <a:t>Results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tr">
                <a:solidFill>
                  <a:schemeClr val="dk1"/>
                </a:solidFill>
              </a:rPr>
              <a:t>Conclusion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215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tr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Derivation of Macromolecular atomic structure models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439425" y="1114975"/>
            <a:ext cx="446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 Methods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Crystallography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Cryo-Electron Microscopy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Can result in good models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Issues: Often produce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sparse and noisy data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making data-only derived models unreliable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 - use Bayesian Statistics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Combines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likelihood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(observation model) with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 probability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(existing knowledge).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Enhances reliability of molecular models.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Stereochemical Parameters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Bond lengths and angles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Well-established, widely used in structural biology software.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Conformational angles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Challenging due to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multimodality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environmental dependence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75" y="787925"/>
            <a:ext cx="3500401" cy="155877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>
            <p:ph type="title"/>
          </p:nvPr>
        </p:nvSpPr>
        <p:spPr>
          <a:xfrm>
            <a:off x="179125" y="2405250"/>
            <a:ext cx="42603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tr" sz="1620"/>
              <a:t>Macromolecular crystallography</a:t>
            </a:r>
            <a:endParaRPr sz="162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150" y="2880550"/>
            <a:ext cx="3627226" cy="174949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228150" y="4630050"/>
            <a:ext cx="40104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lang="tr" sz="1490">
                <a:solidFill>
                  <a:schemeClr val="dk1"/>
                </a:solidFill>
                <a:highlight>
                  <a:schemeClr val="lt1"/>
                </a:highlight>
              </a:rPr>
              <a:t>Cryo electron microscopy</a:t>
            </a:r>
            <a:endParaRPr sz="149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179150" y="135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tr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Challenges and Study Approach</a:t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2330" y="4276975"/>
            <a:ext cx="6078421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 flipH="1">
            <a:off x="585900" y="765125"/>
            <a:ext cx="4541400" cy="30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tr" sz="1100"/>
              <a:t>Conformational Angle Challenges</a:t>
            </a:r>
            <a:r>
              <a:rPr lang="tr" sz="1100"/>
              <a:t>: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tr" sz="1100"/>
              <a:t>Torsion angles in small-ring systems</a:t>
            </a:r>
            <a:r>
              <a:rPr lang="tr" sz="1100"/>
              <a:t>: Complex due to ring closure constraints.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tr" sz="1100"/>
              <a:t>Constraints reduce independent variables leading to interdependencies.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tr" sz="1100"/>
              <a:t>Study Objective</a:t>
            </a:r>
            <a:r>
              <a:rPr lang="tr" sz="1100"/>
              <a:t>: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tr" sz="1100"/>
              <a:t>Develop a framework to organize and classify </a:t>
            </a:r>
            <a:r>
              <a:rPr b="1" lang="tr" sz="1100"/>
              <a:t>small-ring conformations</a:t>
            </a:r>
            <a:r>
              <a:rPr lang="tr" sz="1100"/>
              <a:t>.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tr" sz="1100"/>
              <a:t>Focus: Statistical models.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tr" sz="1100"/>
              <a:t>Methodology</a:t>
            </a:r>
            <a:r>
              <a:rPr lang="tr" sz="1100"/>
              <a:t>: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tr" sz="1100"/>
              <a:t>Combine </a:t>
            </a:r>
            <a:r>
              <a:rPr b="1" lang="tr" sz="1100"/>
              <a:t>computational simulations</a:t>
            </a:r>
            <a:r>
              <a:rPr lang="tr" sz="1100"/>
              <a:t> (RDKit, PySCF) with </a:t>
            </a:r>
            <a:r>
              <a:rPr b="1" lang="tr" sz="1100"/>
              <a:t>experimental data</a:t>
            </a:r>
            <a:r>
              <a:rPr lang="tr" sz="1100"/>
              <a:t> from Crystallography Open Database (COD).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tr" sz="1100"/>
              <a:t>Aim: Integrate knowledge to improve modelling of </a:t>
            </a:r>
            <a:r>
              <a:rPr lang="tr" sz="1100"/>
              <a:t>macromolecules</a:t>
            </a:r>
            <a:r>
              <a:rPr lang="tr" sz="1100"/>
              <a:t> 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b="50000" l="0" r="66922" t="0"/>
          <a:stretch/>
        </p:blipFill>
        <p:spPr>
          <a:xfrm>
            <a:off x="6582750" y="360900"/>
            <a:ext cx="2318001" cy="204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 rotWithShape="1">
          <a:blip r:embed="rId5">
            <a:alphaModFix/>
          </a:blip>
          <a:srcRect b="2040" l="11666" r="39112" t="-2040"/>
          <a:stretch/>
        </p:blipFill>
        <p:spPr>
          <a:xfrm>
            <a:off x="5198000" y="2571750"/>
            <a:ext cx="3738324" cy="173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Aim of the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 Objective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calculate the possible conformations for each ring class with their respective energies.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identify a relationship between simulations and observational data.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existing observational data build statistical models.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computational tools to 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augment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observed data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Applications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(future)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Conformational analysis of ligands with small rings, e.g. carbohydrates.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accurate analysis of RNA/DNA structures.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mprove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atomic models in the PDB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Methodology Overview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Workflow Summary: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acquisition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from COD (≤1.0 Å)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Ring extraction &amp; classification</a:t>
            </a:r>
            <a:b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Computation of Cremer–Pople parameters</a:t>
            </a:r>
            <a:b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SMILES conversion for simulations</a:t>
            </a:r>
            <a:b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Conformational sampling (RDKit)</a:t>
            </a:r>
            <a:b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Energy evaluation (DFT &amp; HF using PySCF)</a:t>
            </a:r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9475" y="1611646"/>
            <a:ext cx="2710200" cy="26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/>
        </p:nvSpPr>
        <p:spPr>
          <a:xfrm>
            <a:off x="5289775" y="4439325"/>
            <a:ext cx="3381000" cy="408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Cremer-</a:t>
            </a:r>
            <a:r>
              <a:rPr lang="tr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Pople</a:t>
            </a:r>
            <a:r>
              <a:rPr lang="tr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 mapping </a:t>
            </a:r>
            <a:r>
              <a:rPr lang="tr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rings</a:t>
            </a:r>
            <a:r>
              <a:rPr lang="tr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 to sphere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5" name="Google Shape;105;p18" title="ce577408-1149-4c96-9ee1-7b378ec73797.jpg"/>
          <p:cNvPicPr preferRelativeResize="0"/>
          <p:nvPr/>
        </p:nvPicPr>
        <p:blipFill rotWithShape="1">
          <a:blip r:embed="rId4">
            <a:alphaModFix/>
          </a:blip>
          <a:srcRect b="4240" l="1604" r="1749" t="2363"/>
          <a:stretch/>
        </p:blipFill>
        <p:spPr>
          <a:xfrm>
            <a:off x="5568676" y="142325"/>
            <a:ext cx="2540776" cy="138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267500" y="135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tr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Methodology: Conformer Generation and Visualisation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311700" y="708400"/>
            <a:ext cx="4223400" cy="4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tr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Conformer Generation and Optimisation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RDKit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Generation of molecular structures from SMILES format.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MMFF and UFF Methods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Initial optimisation of molecular structures and calculation of their energies.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tr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Energy Calculation Methods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Hartree-Fock Method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Precise calculation of molecular energies.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Density Functional Theory (DFT)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Faster and accurate energy analysis.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tr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Boltzmann Distribution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Identification of dominant conformers and calculation of relative probabilities.</a:t>
            </a:r>
            <a:endParaRPr/>
          </a:p>
        </p:txBody>
      </p:sp>
      <p:sp>
        <p:nvSpPr>
          <p:cNvPr id="112" name="Google Shape;112;p19"/>
          <p:cNvSpPr txBox="1"/>
          <p:nvPr/>
        </p:nvSpPr>
        <p:spPr>
          <a:xfrm>
            <a:off x="4641225" y="701125"/>
            <a:ext cx="4277400" cy="4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tr" sz="1700"/>
              <a:t>Visualisation </a:t>
            </a:r>
            <a:endParaRPr b="1" sz="17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tr" sz="1100"/>
              <a:t>Visualisation Tools</a:t>
            </a:r>
            <a:r>
              <a:rPr lang="tr" sz="1100"/>
              <a:t>: Conformers depicted in 3D using py3Dmol.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tr" sz="1100"/>
              <a:t>Conformer Generation from SMILES Format</a:t>
            </a:r>
            <a:r>
              <a:rPr lang="tr" sz="1100"/>
              <a:t>: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tr" sz="1100"/>
              <a:t>RDKit employed to generate conformers.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tr" sz="1100"/>
              <a:t>Geometry optimisation performed for each conformer.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166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990"/>
              <a:buNone/>
            </a:pPr>
            <a:r>
              <a:rPr b="1" lang="tr" sz="18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Molecular Structure Generation and Visualisation Using SMILES Format</a:t>
            </a:r>
            <a:endParaRPr b="1" sz="18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133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343800" y="633175"/>
            <a:ext cx="8456400" cy="12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Generation of Molecular Structures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Utilisation of the RDKit tool to generate molecular structures from SMILES format.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and analysis of diverse chemical components corresponding to the molecules.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Significance of SMILES Format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Critical for the representation and modelling of molecular structures in computational chemistry.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9675" y="1866952"/>
            <a:ext cx="1427574" cy="20772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0"/>
          <p:cNvSpPr txBox="1"/>
          <p:nvPr/>
        </p:nvSpPr>
        <p:spPr>
          <a:xfrm>
            <a:off x="4780125" y="3990150"/>
            <a:ext cx="4249500" cy="95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/>
              <a:t>The following illustrations demonstrate how SMILES format represents molecular structures and reflects their chemical components: </a:t>
            </a:r>
            <a:r>
              <a:rPr b="1" lang="tr" sz="1100"/>
              <a:t>Molecule 1</a:t>
            </a:r>
            <a:r>
              <a:rPr lang="tr" sz="1100"/>
              <a:t>: SMILES notation "C1CC[N+1](C)CC1". </a:t>
            </a:r>
            <a:r>
              <a:rPr b="1" lang="tr" sz="1100"/>
              <a:t>Molecule 2</a:t>
            </a:r>
            <a:r>
              <a:rPr lang="tr" sz="1100"/>
              <a:t>: SMILES notation "[B-1](C)1OC(C)O[B-1](C)O1”.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21" name="Google Shape;12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550" y="1908250"/>
            <a:ext cx="857276" cy="20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86800" y="1908161"/>
            <a:ext cx="704525" cy="208199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 txBox="1"/>
          <p:nvPr/>
        </p:nvSpPr>
        <p:spPr>
          <a:xfrm>
            <a:off x="249950" y="4069150"/>
            <a:ext cx="3330900" cy="942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chemeClr val="dk1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  <a:sym typeface="Proxima Nova"/>
              </a:rPr>
              <a:t>C(O)(C)1CC(C)(O)CC(C)O1</a:t>
            </a:r>
            <a:r>
              <a:rPr b="1" lang="tr" sz="1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 - </a:t>
            </a:r>
            <a:r>
              <a:rPr lang="tr" sz="1100"/>
              <a:t>Each conformer exhibits distinct torsion angles. The effects of these differences on energy stability and molecular processes have been analysed.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Ring Selection Criteria</a:t>
            </a:r>
            <a:endParaRPr/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Filters Applied to COD Dataset: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High-resolution X-ray structures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Finite and well-defined molecules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Rings of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4–6 atoms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non-aromatic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Composed of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C, N, O, P, S, B</a:t>
            </a:r>
            <a:b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Outcome: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523,000 initial crystal structures</a:t>
            </a:r>
            <a:b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235,000 passed the filters</a:t>
            </a:r>
            <a:b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157,000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contained non-aromatic rings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116,000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was the extracted number of 4-6 membered rings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Ring Classification</a:t>
            </a:r>
            <a:endParaRPr/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Classifying by Atomic Connectivity: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Total: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7,600 distinct classes</a:t>
            </a:r>
            <a:b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 classes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had &gt;500 observations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Cremer–Pople Parameters: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Quantify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ring conformation parameters</a:t>
            </a:r>
            <a:b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Describe ring conformations independently of its  size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116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Atom types and ring classes: an example</a:t>
            </a:r>
            <a:endParaRPr/>
          </a:p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243450" y="2493825"/>
            <a:ext cx="8657100" cy="23853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400">
                <a:latin typeface="Courier"/>
                <a:ea typeface="Courier"/>
                <a:cs typeface="Courier"/>
                <a:sym typeface="Courier"/>
              </a:rPr>
              <a:t>Atom types (ring atoms only):</a:t>
            </a:r>
            <a:endParaRPr b="1" sz="14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400">
                <a:latin typeface="Courier"/>
                <a:ea typeface="Courier"/>
                <a:cs typeface="Courier"/>
                <a:sym typeface="Courier"/>
              </a:rPr>
              <a:t>C1: C(2,2,0,0,0) - C with 2 C and 2 O nb</a:t>
            </a:r>
            <a:endParaRPr sz="14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400">
                <a:latin typeface="Courier"/>
                <a:ea typeface="Courier"/>
                <a:cs typeface="Courier"/>
                <a:sym typeface="Courier"/>
              </a:rPr>
              <a:t>C3: C(2,0,0,2,0) - C with 2 C and 2 H nb</a:t>
            </a:r>
            <a:endParaRPr sz="14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400">
                <a:latin typeface="Courier"/>
                <a:ea typeface="Courier"/>
                <a:cs typeface="Courier"/>
                <a:sym typeface="Courier"/>
              </a:rPr>
              <a:t>C4: C(3,1,0,1,0) - C with 3 C and 1 O nb</a:t>
            </a:r>
            <a:endParaRPr sz="14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400">
                <a:latin typeface="Courier"/>
                <a:ea typeface="Courier"/>
                <a:cs typeface="Courier"/>
                <a:sym typeface="Courier"/>
              </a:rPr>
              <a:t>C6: C(2,0,0,2,0) - C with 2 C and 2 H nb</a:t>
            </a:r>
            <a:endParaRPr sz="14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400">
                <a:latin typeface="Courier"/>
                <a:ea typeface="Courier"/>
                <a:cs typeface="Courier"/>
                <a:sym typeface="Courier"/>
              </a:rPr>
              <a:t>C7: C(2,1,0,1,0) - C with 2 C, 1 O and 1 H nb</a:t>
            </a:r>
            <a:endParaRPr sz="14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400">
                <a:latin typeface="Courier"/>
                <a:ea typeface="Courier"/>
                <a:cs typeface="Courier"/>
                <a:sym typeface="Courier"/>
              </a:rPr>
              <a:t>O3: O(2,0,0,0,0) - O with 2 C neighbours</a:t>
            </a:r>
            <a:endParaRPr sz="14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400">
                <a:latin typeface="Courier"/>
                <a:ea typeface="Courier"/>
                <a:cs typeface="Courier"/>
                <a:sym typeface="Courier"/>
              </a:rPr>
              <a:t>Ring class:</a:t>
            </a:r>
            <a:endParaRPr b="1" sz="14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400">
                <a:latin typeface="Courier"/>
                <a:ea typeface="Courier"/>
                <a:cs typeface="Courier"/>
                <a:sym typeface="Courier"/>
              </a:rPr>
              <a:t>C(2,2,0,0,0):C(2,0,0,2,0):C(3,1,0,1,0):C(2,0,0,2,0):C(2,1,0,1,0):O(2,0,0,0,0)</a:t>
            </a:r>
            <a:endParaRPr sz="14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400">
                <a:latin typeface="Courier"/>
                <a:ea typeface="Courier"/>
                <a:cs typeface="Courier"/>
                <a:sym typeface="Courier"/>
              </a:rPr>
              <a:t>If atom types are circularly sorted then these strings defines classes uniquely</a:t>
            </a:r>
            <a:endParaRPr sz="1400"/>
          </a:p>
        </p:txBody>
      </p:sp>
      <p:pic>
        <p:nvPicPr>
          <p:cNvPr id="142" name="Google Shape;142;p23" title="Screenshot from 2025-06-11 21-15-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9238" y="689613"/>
            <a:ext cx="2865526" cy="161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305400" y="156600"/>
            <a:ext cx="85332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t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Statistical Description of Data: Conformational Analysis of 5- and 6-Membered Rings in 3D Representation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4"/>
          <p:cNvSpPr txBox="1"/>
          <p:nvPr>
            <p:ph idx="1" type="body"/>
          </p:nvPr>
        </p:nvSpPr>
        <p:spPr>
          <a:xfrm>
            <a:off x="250925" y="927125"/>
            <a:ext cx="8446800" cy="12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Graphical Representation 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Illustrates the spatial distribution of distinct conformations within molecules.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reveals circular and spherical structural patterns in observed conformations.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Distribution of conformations with similar energy stability is observed.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6-membered rings exhibit a broader circular distribution of conformations.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data point represents a specific conformational state.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738" y="1973387"/>
            <a:ext cx="2624625" cy="175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4"/>
          <p:cNvSpPr txBox="1"/>
          <p:nvPr/>
        </p:nvSpPr>
        <p:spPr>
          <a:xfrm>
            <a:off x="305400" y="3768675"/>
            <a:ext cx="3345900" cy="1153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tr" sz="900"/>
              <a:t>Mapping of 5-membered rings to a circle.</a:t>
            </a:r>
            <a:endParaRPr b="1" sz="900"/>
          </a:p>
          <a:p>
            <a:pPr indent="0" lvl="0" marL="0" rtl="0" algn="l">
              <a:spcBef>
                <a:spcPts val="1800"/>
              </a:spcBef>
              <a:spcAft>
                <a:spcPts val="400"/>
              </a:spcAft>
              <a:buNone/>
            </a:pPr>
            <a:r>
              <a:rPr lang="tr" sz="900"/>
              <a:t>Describes data obtained from molecular conformational analysis. Circular distribution indicates the presence of defined conformational classes. Each data point corresponds to a distinct conformational state of the molecule.</a:t>
            </a:r>
            <a:endParaRPr sz="900"/>
          </a:p>
        </p:txBody>
      </p:sp>
      <p:pic>
        <p:nvPicPr>
          <p:cNvPr id="151" name="Google Shape;15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2650" y="1973375"/>
            <a:ext cx="2321954" cy="154009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4"/>
          <p:cNvSpPr txBox="1"/>
          <p:nvPr/>
        </p:nvSpPr>
        <p:spPr>
          <a:xfrm>
            <a:off x="5412700" y="3663350"/>
            <a:ext cx="3285000" cy="1212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tr" sz="1100"/>
              <a:t>Mapping of 6-membered rings to a sphere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tr" sz="1100"/>
              <a:t> </a:t>
            </a:r>
            <a:r>
              <a:rPr lang="tr" sz="900"/>
              <a:t>Presents a 3D depiction of conformational distribution for 6-membered rings. Different colours highlight variations within molecular conformations.. </a:t>
            </a:r>
            <a:endParaRPr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345775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Computational Modelling</a:t>
            </a:r>
            <a:endParaRPr/>
          </a:p>
        </p:txBody>
      </p:sp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RDKit Ensemble Generation: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SMILES-based conformer generation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Superimposition and filtering of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geometrically distinct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conformers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Quantum  Mechanical Calculations: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DFT &amp; HF methods</a:t>
            </a:r>
            <a:b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Performed using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PySCF</a:t>
            </a:r>
            <a:endParaRPr/>
          </a:p>
        </p:txBody>
      </p:sp>
      <p:pic>
        <p:nvPicPr>
          <p:cNvPr id="159" name="Google Shape;15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8975" y="3204775"/>
            <a:ext cx="2803851" cy="140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8050" y="2830075"/>
            <a:ext cx="2047575" cy="200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5" title="Lala_CPM_conference_poster.png"/>
          <p:cNvPicPr preferRelativeResize="0"/>
          <p:nvPr/>
        </p:nvPicPr>
        <p:blipFill rotWithShape="1">
          <a:blip r:embed="rId5">
            <a:alphaModFix/>
          </a:blip>
          <a:srcRect b="19156" l="33890" r="26036" t="21574"/>
          <a:stretch/>
        </p:blipFill>
        <p:spPr>
          <a:xfrm>
            <a:off x="6132825" y="334950"/>
            <a:ext cx="2096276" cy="231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311700" y="356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tr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 and Analysis</a:t>
            </a:r>
            <a:endParaRPr/>
          </a:p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tr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Energy Calculations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Energies of each conformer calculated using Hartree-Fock and Density Functional Theory (DFT) methods.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Energy differences expressed in kcal/mol units.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tr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Ring Structures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Conformational patterns identified for 5- and 6-membered rings.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Energy differences visualised in graphical representations.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tr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Boltzmann Distribution Results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Identification of minimum-energy conformer(s).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Dominant conformers determined based on Boltzmann distribution.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dominant conformers correspond to observed states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Conformational Distributions</a:t>
            </a:r>
            <a:endParaRPr/>
          </a:p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Distributions Matter: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all conformers are equally probable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Populations are temperature-dependent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 workflow to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7,600 ring classes (to be done, we need computers)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idx="1" type="body"/>
          </p:nvPr>
        </p:nvSpPr>
        <p:spPr>
          <a:xfrm>
            <a:off x="5258875" y="4210950"/>
            <a:ext cx="3416400" cy="730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600"/>
              </a:spcAft>
              <a:buNone/>
            </a:pPr>
            <a:r>
              <a:rPr b="1" lang="t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Boltzmann Distribution and Energy Differences. </a:t>
            </a:r>
            <a:r>
              <a:rPr lang="t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graph illustrates the results of energy analyses for conformers, plotted against conformer IDs. Blue bars represent the distribution percentages, while the red line indicates relative energies.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1600" y="53401"/>
            <a:ext cx="3621599" cy="406389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8"/>
          <p:cNvSpPr txBox="1"/>
          <p:nvPr>
            <p:ph type="title"/>
          </p:nvPr>
        </p:nvSpPr>
        <p:spPr>
          <a:xfrm>
            <a:off x="311700" y="175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tr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Boltzmann Distribution and Energy Analysis</a:t>
            </a:r>
            <a:endParaRPr b="1"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182675" y="624900"/>
            <a:ext cx="4884000" cy="43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tr" sz="1300"/>
              <a:t>Probability Calculation of Dominant Conformers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tr" sz="1100"/>
              <a:t>The probability of dominant conformers is calculated based on the Boltzmann factor.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tr" sz="1100"/>
              <a:t>Boltzmann probabilities are used to identify dominant conformer(s).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tr" sz="1100"/>
              <a:t>E_rel</a:t>
            </a:r>
            <a:r>
              <a:rPr lang="tr" sz="1100"/>
              <a:t>: relative energy of conformations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tr" sz="1100"/>
              <a:t>P_i</a:t>
            </a:r>
            <a:r>
              <a:rPr lang="tr" sz="1100"/>
              <a:t>: Probability of conformation. It should be proportional to the number of observed states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tr" sz="1100"/>
              <a:t>RT</a:t>
            </a:r>
            <a:r>
              <a:rPr lang="tr" sz="1100"/>
              <a:t>: Represents the effect of temperature on the system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82" name="Google Shape;18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225" y="1907850"/>
            <a:ext cx="4024900" cy="66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4225" y="2656125"/>
            <a:ext cx="2724150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470775" y="188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tr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Conformer Generation and Energy Analysis</a:t>
            </a:r>
            <a:endParaRPr sz="3200"/>
          </a:p>
        </p:txBody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311700" y="707000"/>
            <a:ext cx="3255000" cy="4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Molecular Generation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Molecules generated from the provided SMILES format using the RDKit tool.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Energy Calculations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Energy calculations performed for each conformer using UFF, MMFF, Hartree-Fock, and Density Functional Theory (DFT) methods.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Graphical Representation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Energy differences presented alongside the methods used.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Graphical depiction of energy differences for the first three conformers shown on the right.</a:t>
            </a: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190" name="Google Shape;19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4875" y="2089725"/>
            <a:ext cx="4297349" cy="28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9"/>
          <p:cNvSpPr txBox="1"/>
          <p:nvPr/>
        </p:nvSpPr>
        <p:spPr>
          <a:xfrm>
            <a:off x="5087350" y="1185900"/>
            <a:ext cx="20706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chemeClr val="dk1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  <a:sym typeface="Proxima Nova"/>
              </a:rPr>
              <a:t>C(O)(C)1CC(C)(O)CC(C)O1</a:t>
            </a:r>
            <a:endParaRPr b="1" sz="12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92" name="Google Shape;192;p29" title="Lala_CPM_conference_poster.png"/>
          <p:cNvPicPr preferRelativeResize="0"/>
          <p:nvPr/>
        </p:nvPicPr>
        <p:blipFill rotWithShape="1">
          <a:blip r:embed="rId4">
            <a:alphaModFix/>
          </a:blip>
          <a:srcRect b="19157" l="33890" r="26036" t="24131"/>
          <a:stretch/>
        </p:blipFill>
        <p:spPr>
          <a:xfrm>
            <a:off x="7470700" y="761450"/>
            <a:ext cx="1141524" cy="120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>
            <p:ph idx="1" type="body"/>
          </p:nvPr>
        </p:nvSpPr>
        <p:spPr>
          <a:xfrm>
            <a:off x="153825" y="1374825"/>
            <a:ext cx="4031700" cy="35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graph depicts the energy differences for nine conformers, calculated using various computational methods.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tr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 Characteristics : 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UFF and MMFF Methods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Deliver rapid computational results.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Exhibit lower accuracy when compared to Hartree-Fock and Density Functional Theory (DFT) methods.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Hartree-Fock and DFT Methods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 more precise results.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Demand greater computational resources.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2075" y="1322000"/>
            <a:ext cx="4292676" cy="359744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0"/>
          <p:cNvSpPr txBox="1"/>
          <p:nvPr>
            <p:ph type="title"/>
          </p:nvPr>
        </p:nvSpPr>
        <p:spPr>
          <a:xfrm>
            <a:off x="153825" y="252775"/>
            <a:ext cx="3658800" cy="8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tr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Energy Calculations and Method Comparison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0"/>
          <p:cNvSpPr txBox="1"/>
          <p:nvPr/>
        </p:nvSpPr>
        <p:spPr>
          <a:xfrm>
            <a:off x="5662500" y="684675"/>
            <a:ext cx="20706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chemeClr val="dk1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  <a:sym typeface="Proxima Nova"/>
              </a:rPr>
              <a:t>C(O)(C)1CC(C)(O)CC(C)O1</a:t>
            </a:r>
            <a:endParaRPr b="1" sz="12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Conclusion and Future work</a:t>
            </a:r>
            <a:endParaRPr/>
          </a:p>
        </p:txBody>
      </p:sp>
      <p:sp>
        <p:nvSpPr>
          <p:cNvPr id="206" name="Google Shape;20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Experimental data alone are insufficient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full conformational coverage</a:t>
            </a:r>
            <a:b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Combining RDKit + PySCF provides a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theoretically sound augmentation</a:t>
            </a:r>
            <a:b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Bayesian framework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will allow for proper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integration of uncertainty</a:t>
            </a:r>
            <a:b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 is to improve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reliability the PDB entries containing  small-rings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 tools to all ring classes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Derive probability distributions for all classes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 derived models in macromolecular atomic model derivations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2325" y="3434813"/>
            <a:ext cx="205740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Acknowledgement</a:t>
            </a:r>
            <a:endParaRPr/>
          </a:p>
        </p:txBody>
      </p:sp>
      <p:sp>
        <p:nvSpPr>
          <p:cNvPr id="213" name="Google Shape;213;p32"/>
          <p:cNvSpPr txBox="1"/>
          <p:nvPr>
            <p:ph idx="1" type="body"/>
          </p:nvPr>
        </p:nvSpPr>
        <p:spPr>
          <a:xfrm>
            <a:off x="311700" y="1687100"/>
            <a:ext cx="2958300" cy="28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chemeClr val="dk1"/>
                </a:solidFill>
              </a:rPr>
              <a:t>IMBB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600">
                <a:solidFill>
                  <a:schemeClr val="dk1"/>
                </a:solidFill>
              </a:rPr>
              <a:t>Kave Babai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600">
                <a:solidFill>
                  <a:schemeClr val="dk1"/>
                </a:solidFill>
              </a:rPr>
              <a:t>Sahib Babaliyev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600">
                <a:solidFill>
                  <a:schemeClr val="dk1"/>
                </a:solidFill>
              </a:rPr>
              <a:t>Humay Mammadli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14" name="Google Shape;214;p32"/>
          <p:cNvSpPr txBox="1"/>
          <p:nvPr/>
        </p:nvSpPr>
        <p:spPr>
          <a:xfrm>
            <a:off x="3915575" y="1580250"/>
            <a:ext cx="4440000" cy="22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Guman Garayev 	- </a:t>
            </a:r>
            <a:r>
              <a:rPr lang="t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PROXIMA, Azerbaijan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Fei Long			- </a:t>
            </a:r>
            <a:r>
              <a:rPr lang="t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MRC-LMB, </a:t>
            </a:r>
            <a:r>
              <a:rPr lang="tr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Cambridge</a:t>
            </a:r>
            <a:r>
              <a:rPr lang="tr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	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5" name="Google Shape;215;p32"/>
          <p:cNvSpPr txBox="1"/>
          <p:nvPr/>
        </p:nvSpPr>
        <p:spPr>
          <a:xfrm>
            <a:off x="675000" y="3930000"/>
            <a:ext cx="6037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All </a:t>
            </a:r>
            <a:r>
              <a:rPr lang="tr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colleagues</a:t>
            </a:r>
            <a:r>
              <a:rPr lang="tr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from IMBB 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6" name="Google Shape;216;p32"/>
          <p:cNvSpPr txBox="1"/>
          <p:nvPr/>
        </p:nvSpPr>
        <p:spPr>
          <a:xfrm>
            <a:off x="288950" y="1259850"/>
            <a:ext cx="3467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Garib Murshudov (IMBB, MRC-LMB)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>
            <p:ph idx="1" type="body"/>
          </p:nvPr>
        </p:nvSpPr>
        <p:spPr>
          <a:xfrm>
            <a:off x="2431825" y="2124800"/>
            <a:ext cx="4224300" cy="9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tr" sz="2200"/>
              <a:t>Thank you for your attention :) </a:t>
            </a:r>
            <a:endParaRPr sz="2200"/>
          </a:p>
        </p:txBody>
      </p:sp>
      <p:pic>
        <p:nvPicPr>
          <p:cNvPr id="222" name="Google Shape;222;p33" title="q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9225" y="2733400"/>
            <a:ext cx="2183076" cy="2183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